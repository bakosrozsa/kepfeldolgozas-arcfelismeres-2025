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VT323"/>
      <p:regular r:id="rId17"/>
    </p:embeddedFont>
    <p:embeddedFont>
      <p:font typeface="Roboto Mono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idvaqHSCGY2xx/2se+om9oRLs40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2F0EE53-DDDD-4665-9FFD-D7E5BF6FAD8F}">
  <a:tblStyle styleId="{C2F0EE53-DDDD-4665-9FFD-D7E5BF6FAD8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Mono-italic.fntdata"/><Relationship Id="rId11" Type="http://schemas.openxmlformats.org/officeDocument/2006/relationships/slide" Target="slides/slide6.xml"/><Relationship Id="rId22" Type="http://customschemas.google.com/relationships/presentationmetadata" Target="metadata"/><Relationship Id="rId10" Type="http://schemas.openxmlformats.org/officeDocument/2006/relationships/slide" Target="slides/slide5.xml"/><Relationship Id="rId21" Type="http://schemas.openxmlformats.org/officeDocument/2006/relationships/font" Target="fonts/RobotoMono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VT323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RobotoMono-bold.fntdata"/><Relationship Id="rId6" Type="http://schemas.openxmlformats.org/officeDocument/2006/relationships/slide" Target="slides/slide1.xml"/><Relationship Id="rId18" Type="http://schemas.openxmlformats.org/officeDocument/2006/relationships/font" Target="fonts/RobotoMono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ab975baed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ab975bae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9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hyperlink" Target="https://bit.ly/3A1uf1Q" TargetMode="External"/><Relationship Id="rId6" Type="http://schemas.openxmlformats.org/officeDocument/2006/relationships/hyperlink" Target="http://bit.ly/2TtBDfr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1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0" name="Google Shape;10;p12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12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" name="Google Shape;12;p12"/>
          <p:cNvSpPr/>
          <p:nvPr>
            <p:ph idx="2" type="pic"/>
          </p:nvPr>
        </p:nvSpPr>
        <p:spPr>
          <a:xfrm>
            <a:off x="5805375" y="1317075"/>
            <a:ext cx="2831700" cy="26481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2"/>
          <p:cNvSpPr txBox="1"/>
          <p:nvPr>
            <p:ph type="ctrTitle"/>
          </p:nvPr>
        </p:nvSpPr>
        <p:spPr>
          <a:xfrm>
            <a:off x="606800" y="849600"/>
            <a:ext cx="5060700" cy="246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4" name="Google Shape;14;p12"/>
          <p:cNvSpPr txBox="1"/>
          <p:nvPr>
            <p:ph idx="1" type="subTitle"/>
          </p:nvPr>
        </p:nvSpPr>
        <p:spPr>
          <a:xfrm>
            <a:off x="606800" y="3364900"/>
            <a:ext cx="4351500" cy="11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5" name="Google Shape;15;p12" title="Sin título-2.png"/>
          <p:cNvPicPr preferRelativeResize="0"/>
          <p:nvPr/>
        </p:nvPicPr>
        <p:blipFill rotWithShape="1">
          <a:blip r:embed="rId3">
            <a:alphaModFix/>
          </a:blip>
          <a:srcRect b="0" l="61982" r="0" t="0"/>
          <a:stretch/>
        </p:blipFill>
        <p:spPr>
          <a:xfrm>
            <a:off x="5805376" y="1051575"/>
            <a:ext cx="2831677" cy="265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13" title="Sin título-7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3"/>
          <p:cNvSpPr txBox="1"/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" type="subTitle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" name="Google Shape;20;p13" title="Sin título-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1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14" title="Sin título-7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14"/>
          <p:cNvSpPr txBox="1"/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" type="body"/>
          </p:nvPr>
        </p:nvSpPr>
        <p:spPr>
          <a:xfrm>
            <a:off x="3789425" y="2229300"/>
            <a:ext cx="4940100" cy="25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14"/>
          <p:cNvSpPr/>
          <p:nvPr>
            <p:ph idx="2" type="pic"/>
          </p:nvPr>
        </p:nvSpPr>
        <p:spPr>
          <a:xfrm>
            <a:off x="522525" y="1195150"/>
            <a:ext cx="2947200" cy="3341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sp>
      <p:pic>
        <p:nvPicPr>
          <p:cNvPr id="26" name="Google Shape;26;p14" title="Sin título-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oogle Shape;28;p15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29" name="Google Shape;29;p15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15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" name="Google Shape;31;p15"/>
          <p:cNvSpPr txBox="1"/>
          <p:nvPr>
            <p:ph type="title"/>
          </p:nvPr>
        </p:nvSpPr>
        <p:spPr>
          <a:xfrm>
            <a:off x="669775" y="1143000"/>
            <a:ext cx="3852300" cy="56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  <p:sp>
        <p:nvSpPr>
          <p:cNvPr id="32" name="Google Shape;32;p15"/>
          <p:cNvSpPr txBox="1"/>
          <p:nvPr>
            <p:ph idx="1" type="subTitle"/>
          </p:nvPr>
        </p:nvSpPr>
        <p:spPr>
          <a:xfrm>
            <a:off x="669775" y="1850750"/>
            <a:ext cx="3683400" cy="9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3" name="Google Shape;33;p15" title="Sin título-9.png"/>
          <p:cNvPicPr preferRelativeResize="0"/>
          <p:nvPr/>
        </p:nvPicPr>
        <p:blipFill rotWithShape="1">
          <a:blip r:embed="rId4">
            <a:alphaModFix/>
          </a:blip>
          <a:srcRect b="47106" l="19762" r="19445" t="14675"/>
          <a:stretch/>
        </p:blipFill>
        <p:spPr>
          <a:xfrm>
            <a:off x="4549250" y="1778300"/>
            <a:ext cx="3953100" cy="2485174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15"/>
          <p:cNvSpPr txBox="1"/>
          <p:nvPr/>
        </p:nvSpPr>
        <p:spPr>
          <a:xfrm>
            <a:off x="4865450" y="2464525"/>
            <a:ext cx="3320700" cy="5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hu-HU" sz="10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CREDITS:</a:t>
            </a:r>
            <a:r>
              <a:rPr b="0" i="0" lang="hu-HU" sz="10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This presentation template was created by </a:t>
            </a:r>
            <a:r>
              <a:rPr b="1" i="0" lang="hu-HU" sz="1000" u="none" cap="none" strike="noStrike">
                <a:solidFill>
                  <a:schemeClr val="dk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0" i="0" lang="hu-HU" sz="10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, and includes icons, infographics &amp; images by </a:t>
            </a:r>
            <a:r>
              <a:rPr b="1" i="0" lang="hu-HU" sz="1000" u="none" cap="none" strike="noStrike">
                <a:solidFill>
                  <a:schemeClr val="dk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0" i="0" lang="hu-HU" sz="10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endParaRPr b="1" i="0" sz="1000" u="sng" cap="none" strike="noStrike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oogle Shape;36;p16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37" name="Google Shape;37;p16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Google Shape;38;p16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" name="Google Shape;39;p1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0" name="Google Shape;40;p16"/>
          <p:cNvSpPr txBox="1"/>
          <p:nvPr>
            <p:ph idx="1" type="body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Darker Grotesque SemiBold"/>
              <a:buChar char="●"/>
              <a:defRPr sz="1200">
                <a:solidFill>
                  <a:srgbClr val="434343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1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3" name="Google Shape;43;p17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4" name="Google Shape;44;p17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5" name="Google Shape;45;p17"/>
          <p:cNvSpPr txBox="1"/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46" name="Google Shape;46;p17"/>
          <p:cNvSpPr txBox="1"/>
          <p:nvPr>
            <p:ph idx="1" type="body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7"/>
          <p:cNvSpPr/>
          <p:nvPr>
            <p:ph idx="2" type="pic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18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50" name="Google Shape;50;p18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" name="Google Shape;51;p18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2" name="Google Shape;52;p18"/>
          <p:cNvSpPr txBox="1"/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oogle Shape;54;p19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55" name="Google Shape;55;p19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56;p19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7" name="Google Shape;57;p19"/>
          <p:cNvSpPr txBox="1"/>
          <p:nvPr>
            <p:ph idx="1" type="subTitle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9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2" type="subTitle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oogle Shape;61;p20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62" name="Google Shape;62;p20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Google Shape;63;p20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4" name="Google Shape;64;p20"/>
          <p:cNvSpPr txBox="1"/>
          <p:nvPr>
            <p:ph hasCustomPrompt="1" type="title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5" name="Google Shape;65;p20"/>
          <p:cNvSpPr txBox="1"/>
          <p:nvPr>
            <p:ph idx="1" type="subTitle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_ONLY_2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oogle Shape;68;p2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69" name="Google Shape;69;p22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0" name="Google Shape;70;p22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2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_1_1_1_1_1_1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oogle Shape;73;p23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74" name="Google Shape;74;p23" title="Sin título-7.png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75;p23" title="Sin título-2.pn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1_1_1_1_1_1_1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b="0" i="0" sz="32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 b="0" i="0" sz="1400" u="none" cap="none" strike="noStrik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05375" y="1326777"/>
            <a:ext cx="2831677" cy="2250142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2" name="Google Shape;82;p1"/>
          <p:cNvSpPr txBox="1"/>
          <p:nvPr>
            <p:ph type="ctrTitle"/>
          </p:nvPr>
        </p:nvSpPr>
        <p:spPr>
          <a:xfrm>
            <a:off x="435853" y="2290528"/>
            <a:ext cx="5060700" cy="70129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hu-HU"/>
              <a:t>Arcdetektálás</a:t>
            </a:r>
            <a:endParaRPr/>
          </a:p>
        </p:txBody>
      </p:sp>
      <p:sp>
        <p:nvSpPr>
          <p:cNvPr id="83" name="Google Shape;83;p1"/>
          <p:cNvSpPr txBox="1"/>
          <p:nvPr/>
        </p:nvSpPr>
        <p:spPr>
          <a:xfrm>
            <a:off x="435853" y="205291"/>
            <a:ext cx="6278711" cy="26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hu-HU" sz="16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Bakos Rózsa Ajándék, Kálmán Előd Arto, Németh Bence Máté, Nyerges Bálint</a:t>
            </a:r>
            <a:endParaRPr b="0" i="0" sz="1600" u="none" cap="none" strike="noStrike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"/>
          <p:cNvSpPr txBox="1"/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hu-HU"/>
              <a:t>Projekt Célja</a:t>
            </a:r>
            <a:endParaRPr/>
          </a:p>
        </p:txBody>
      </p:sp>
      <p:sp>
        <p:nvSpPr>
          <p:cNvPr id="89" name="Google Shape;89;p2"/>
          <p:cNvSpPr txBox="1"/>
          <p:nvPr>
            <p:ph idx="1" type="subTitle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 sz="1600"/>
              <a:t>Átfogóan megvizsgáljuk, hogyan fejlődött az arcdetektálás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 sz="1600"/>
              <a:t>Haar Cascade</a:t>
            </a:r>
            <a:endParaRPr sz="1600"/>
          </a:p>
          <a:p>
            <a:pPr indent="-285750" lvl="1" marL="7429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 sz="1600"/>
              <a:t>Modern, neurális háló alapú megoldások(Caffe és a YuNet)</a:t>
            </a:r>
            <a:endParaRPr/>
          </a:p>
          <a:p>
            <a:pPr indent="-2857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 sz="1600"/>
              <a:t>Ezt ne parancssorból kelljen futtatni, hanem egy felhasználóbarát grafikus felületen keresztül lehessen vezérelni és összehasonlítani az eredményeket</a:t>
            </a:r>
            <a:endParaRPr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"/>
          <p:cNvSpPr txBox="1"/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hu-HU"/>
              <a:t>Feladat és eszközök</a:t>
            </a:r>
            <a:endParaRPr/>
          </a:p>
        </p:txBody>
      </p:sp>
      <p:sp>
        <p:nvSpPr>
          <p:cNvPr id="95" name="Google Shape;95;p3"/>
          <p:cNvSpPr txBox="1"/>
          <p:nvPr>
            <p:ph idx="1" type="subTitle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4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9675" y="1212525"/>
            <a:ext cx="2947200" cy="2803663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1" name="Google Shape;101;p4"/>
          <p:cNvSpPr txBox="1"/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hu-HU"/>
              <a:t>Megközelítés – Haar Cascade</a:t>
            </a:r>
            <a:endParaRPr/>
          </a:p>
        </p:txBody>
      </p:sp>
      <p:sp>
        <p:nvSpPr>
          <p:cNvPr id="102" name="Google Shape;102;p4"/>
          <p:cNvSpPr txBox="1"/>
          <p:nvPr>
            <p:ph idx="1" type="body"/>
          </p:nvPr>
        </p:nvSpPr>
        <p:spPr>
          <a:xfrm>
            <a:off x="3789425" y="2229300"/>
            <a:ext cx="4940100" cy="25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3D40"/>
              </a:buClr>
              <a:buSzPts val="600"/>
              <a:buFont typeface="Arial"/>
              <a:buNone/>
            </a:pPr>
            <a:r>
              <a:t/>
            </a:r>
            <a:endParaRPr/>
          </a:p>
        </p:txBody>
      </p:sp>
      <p:grpSp>
        <p:nvGrpSpPr>
          <p:cNvPr id="103" name="Google Shape;103;p4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104" name="Google Shape;104;p4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0127" r="0" t="0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" name="Google Shape;105;p4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0127" r="0" t="0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5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525" y="1212525"/>
            <a:ext cx="2947200" cy="27946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11" name="Google Shape;111;p5"/>
          <p:cNvSpPr txBox="1"/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hu-HU"/>
              <a:t>Megközelítés – DNN</a:t>
            </a:r>
            <a:endParaRPr/>
          </a:p>
        </p:txBody>
      </p:sp>
      <p:sp>
        <p:nvSpPr>
          <p:cNvPr id="112" name="Google Shape;112;p5"/>
          <p:cNvSpPr txBox="1"/>
          <p:nvPr>
            <p:ph idx="1" type="body"/>
          </p:nvPr>
        </p:nvSpPr>
        <p:spPr>
          <a:xfrm>
            <a:off x="3789425" y="1599564"/>
            <a:ext cx="4940100" cy="276624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A modern arcfelismerés már neurális hálókat használ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Caffe alapú DNN modell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SSD (Single Shot Detector) architektúrát használ, ResNet-10 alapon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Színes képeken dolgozik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Pixel-szintű mintázatok helyett komplexebb vonásokat keres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Sokkal stabilabb változó fényviszonyok között is</a:t>
            </a:r>
            <a:endParaRPr/>
          </a:p>
        </p:txBody>
      </p:sp>
      <p:grpSp>
        <p:nvGrpSpPr>
          <p:cNvPr id="113" name="Google Shape;113;p5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114" name="Google Shape;114;p5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0127" r="0" t="0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5" name="Google Shape;115;p5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0127" r="0" t="0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6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525" y="1212525"/>
            <a:ext cx="2947200" cy="291963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21" name="Google Shape;121;p6"/>
          <p:cNvSpPr txBox="1"/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hu-HU"/>
              <a:t>Megközelítés - YuNet</a:t>
            </a:r>
            <a:endParaRPr/>
          </a:p>
        </p:txBody>
      </p:sp>
      <p:sp>
        <p:nvSpPr>
          <p:cNvPr id="122" name="Google Shape;122;p6"/>
          <p:cNvSpPr txBox="1"/>
          <p:nvPr>
            <p:ph idx="1" type="body"/>
          </p:nvPr>
        </p:nvSpPr>
        <p:spPr>
          <a:xfrm>
            <a:off x="3789425" y="1599564"/>
            <a:ext cx="4940100" cy="25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Legmodernebb megoldás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OpenCV Zoo-ból integrált, .onnx formátumban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Rendkívül kicsi és gyors</a:t>
            </a:r>
            <a:endParaRPr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hu-HU"/>
              <a:t>Képes megtalálni azokat az arcokat is, amik profilból látszanak, vagy részben takarásban vannak(ahol a klasszikus algoritmusok kudarcot vallanak)</a:t>
            </a:r>
            <a:endParaRPr/>
          </a:p>
        </p:txBody>
      </p:sp>
      <p:grpSp>
        <p:nvGrpSpPr>
          <p:cNvPr id="123" name="Google Shape;123;p6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124" name="Google Shape;124;p6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0127" r="0" t="0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5" name="Google Shape;125;p6" title="Sin título-2.png"/>
            <p:cNvPicPr preferRelativeResize="0"/>
            <p:nvPr/>
          </p:nvPicPr>
          <p:blipFill rotWithShape="1">
            <a:blip r:embed="rId4">
              <a:alphaModFix/>
            </a:blip>
            <a:srcRect b="0" l="60127" r="0" t="0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"/>
          <p:cNvSpPr txBox="1"/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hu-HU"/>
              <a:t>Megközelítés – Saját megoldás</a:t>
            </a:r>
            <a:endParaRPr/>
          </a:p>
        </p:txBody>
      </p:sp>
      <p:sp>
        <p:nvSpPr>
          <p:cNvPr id="131" name="Google Shape;131;p7"/>
          <p:cNvSpPr txBox="1"/>
          <p:nvPr>
            <p:ph idx="1" type="subTitle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"/>
          <p:cNvSpPr txBox="1"/>
          <p:nvPr>
            <p:ph type="title"/>
          </p:nvPr>
        </p:nvSpPr>
        <p:spPr>
          <a:xfrm>
            <a:off x="679225" y="70502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hu-HU"/>
              <a:t>GUI</a:t>
            </a:r>
            <a:endParaRPr/>
          </a:p>
        </p:txBody>
      </p:sp>
      <p:pic>
        <p:nvPicPr>
          <p:cNvPr id="137" name="Google Shape;13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383" y="1403425"/>
            <a:ext cx="3738283" cy="3349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ab975baed4_0_0"/>
          <p:cNvSpPr txBox="1"/>
          <p:nvPr>
            <p:ph type="title"/>
          </p:nvPr>
        </p:nvSpPr>
        <p:spPr>
          <a:xfrm>
            <a:off x="5694050" y="676450"/>
            <a:ext cx="3255900" cy="187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3800"/>
              <a:t>Algoritmusok összehasonlítása GUI</a:t>
            </a:r>
            <a:endParaRPr sz="3800"/>
          </a:p>
        </p:txBody>
      </p:sp>
      <p:pic>
        <p:nvPicPr>
          <p:cNvPr id="143" name="Google Shape;143;g3ab975baed4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5975" y="817825"/>
            <a:ext cx="5594550" cy="3872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"/>
          <p:cNvSpPr txBox="1"/>
          <p:nvPr>
            <p:ph type="title"/>
          </p:nvPr>
        </p:nvSpPr>
        <p:spPr>
          <a:xfrm>
            <a:off x="192150" y="696150"/>
            <a:ext cx="87597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hu-HU"/>
              <a:t>Eredményeké és összehasonlítás</a:t>
            </a:r>
            <a:endParaRPr/>
          </a:p>
        </p:txBody>
      </p:sp>
      <p:graphicFrame>
        <p:nvGraphicFramePr>
          <p:cNvPr id="149" name="Google Shape;149;p9"/>
          <p:cNvGraphicFramePr/>
          <p:nvPr/>
        </p:nvGraphicFramePr>
        <p:xfrm>
          <a:off x="638700" y="1493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{C2F0EE53-DDDD-4665-9FFD-D7E5BF6FAD8F}</a:tableStyleId>
              </a:tblPr>
              <a:tblGrid>
                <a:gridCol w="3933300"/>
                <a:gridCol w="3933300"/>
              </a:tblGrid>
              <a:tr h="14566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YuNet (A leghatékonyabb):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Legpontosabb: 71,34% (Arclétszám) és 88,42% (Bounding Box).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Legtöbb találat: 24 461 detektált arc.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DNN (A legmegbízhatóbb):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Minimális hiba: Mindössze 26 db téves ("túl sok") detektálás, ami kiemelkedően tiszta működést jelent.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557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Saját CNN: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Magas érzékenység (23 242 találat), de alacsony pontosság (11,59% BBox).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Sok a téves riasztás (2359 db "túl sok" hiba), így a modell még finomhangolásra szorul.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Haar Cascade: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/>
                        <a:t>Elavult technológia, alacsony hatékonysággal (19,07% pontosság).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"/>
          <p:cNvSpPr txBox="1"/>
          <p:nvPr>
            <p:ph type="title"/>
          </p:nvPr>
        </p:nvSpPr>
        <p:spPr>
          <a:xfrm>
            <a:off x="669774" y="1143000"/>
            <a:ext cx="4823299" cy="56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hu-HU" sz="4000"/>
              <a:t>Köszönjük a figyelmet!</a:t>
            </a:r>
            <a:endParaRPr sz="4000"/>
          </a:p>
        </p:txBody>
      </p:sp>
      <p:sp>
        <p:nvSpPr>
          <p:cNvPr id="155" name="Google Shape;155;p10"/>
          <p:cNvSpPr txBox="1"/>
          <p:nvPr>
            <p:ph idx="1" type="subTitle"/>
          </p:nvPr>
        </p:nvSpPr>
        <p:spPr>
          <a:xfrm>
            <a:off x="669775" y="1850750"/>
            <a:ext cx="3683400" cy="9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hu-HU"/>
              <a:t>Kérdések?</a:t>
            </a:r>
            <a:endParaRPr/>
          </a:p>
        </p:txBody>
      </p:sp>
      <p:sp>
        <p:nvSpPr>
          <p:cNvPr id="156" name="Google Shape;156;p10"/>
          <p:cNvSpPr txBox="1"/>
          <p:nvPr/>
        </p:nvSpPr>
        <p:spPr>
          <a:xfrm>
            <a:off x="341850" y="205291"/>
            <a:ext cx="6139632" cy="26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hu-HU" sz="1600" u="none" cap="none" strike="noStrik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Bakos Rózsa Ajándék, Kálmán Előd Arto, Németh Bence Máté, Nyerges Bálint</a:t>
            </a:r>
            <a:endParaRPr b="0" i="0" sz="1600" u="none" cap="none" strike="noStrike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y Presentation Template">
  <a:themeElements>
    <a:clrScheme name="Simple Light">
      <a:dk1>
        <a:srgbClr val="191919"/>
      </a:dk1>
      <a:lt1>
        <a:srgbClr val="EFEFEF"/>
      </a:lt1>
      <a:dk2>
        <a:srgbClr val="707070"/>
      </a:dk2>
      <a:lt2>
        <a:srgbClr val="C1C1B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