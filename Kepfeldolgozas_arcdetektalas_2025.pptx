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2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9144000" cy="5143500" type="screen16x9"/>
  <p:notesSz cx="6858000" cy="9144000"/>
  <p:embeddedFontLst>
    <p:embeddedFont>
      <p:font typeface="VT323" panose="020B0604020202020204" charset="-18"/>
      <p:regular r:id="rId13"/>
    </p:embeddedFont>
    <p:embeddedFont>
      <p:font typeface="Roboto Mono" panose="020B060402020202020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479EEE4-8326-451E-9463-3B67C47A2025}">
  <a:tblStyle styleId="{3479EEE4-8326-451E-9463-3B67C47A202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08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8" name="Google Shape;12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7" name="Google Shape;14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3" name="Google Shape;15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://bit.ly/2TtBDfr" TargetMode="External"/><Relationship Id="rId5" Type="http://schemas.openxmlformats.org/officeDocument/2006/relationships/hyperlink" Target="https://bit.ly/3A1uf1Q" TargetMode="Externa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10" name="Google Shape;10;p2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" name="Google Shape;11;p2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2;p2"/>
          <p:cNvSpPr>
            <a:spLocks noGrp="1"/>
          </p:cNvSpPr>
          <p:nvPr>
            <p:ph type="pic" idx="2"/>
          </p:nvPr>
        </p:nvSpPr>
        <p:spPr>
          <a:xfrm>
            <a:off x="5805375" y="1317075"/>
            <a:ext cx="2831700" cy="26481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606800" y="849600"/>
            <a:ext cx="5060700" cy="24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606800" y="3364900"/>
            <a:ext cx="4351500" cy="113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5" name="Google Shape;15;p2" title="Sin título-2.png"/>
          <p:cNvPicPr preferRelativeResize="0"/>
          <p:nvPr/>
        </p:nvPicPr>
        <p:blipFill rotWithShape="1">
          <a:blip r:embed="rId3">
            <a:alphaModFix/>
          </a:blip>
          <a:srcRect l="61982"/>
          <a:stretch/>
        </p:blipFill>
        <p:spPr>
          <a:xfrm>
            <a:off x="5805376" y="1051575"/>
            <a:ext cx="2831677" cy="2655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3" title="Sin título-7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4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0" name="Google Shape;20;p3" title="Sin título-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4" title="Sin título-7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4988" y="78599"/>
            <a:ext cx="8974027" cy="4925051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3789425" y="2229300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>
            <a:spLocks noGrp="1"/>
          </p:cNvSpPr>
          <p:nvPr>
            <p:ph type="pic" idx="2"/>
          </p:nvPr>
        </p:nvSpPr>
        <p:spPr>
          <a:xfrm>
            <a:off x="522525" y="1195150"/>
            <a:ext cx="2947200" cy="33414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sp>
      <p:pic>
        <p:nvPicPr>
          <p:cNvPr id="26" name="Google Shape;26;p4" title="Sin título-2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0400" y="196675"/>
            <a:ext cx="8645002" cy="30814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oogle Shape;28;p5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29" name="Google Shape;29;p5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5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669775" y="1143000"/>
            <a:ext cx="3852300" cy="5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1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3" name="Google Shape;33;p5" title="Sin título-9.png"/>
          <p:cNvPicPr preferRelativeResize="0"/>
          <p:nvPr/>
        </p:nvPicPr>
        <p:blipFill rotWithShape="1">
          <a:blip r:embed="rId4">
            <a:alphaModFix/>
          </a:blip>
          <a:srcRect l="19762" t="14675" r="19445" b="47106"/>
          <a:stretch/>
        </p:blipFill>
        <p:spPr>
          <a:xfrm>
            <a:off x="4549250" y="1778300"/>
            <a:ext cx="3953100" cy="2485174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/>
        </p:nvSpPr>
        <p:spPr>
          <a:xfrm>
            <a:off x="4865450" y="2464525"/>
            <a:ext cx="3320700" cy="51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CREDITS:</a:t>
            </a:r>
            <a:r>
              <a:rPr lang="en-US" sz="10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This presentation template was created by </a:t>
            </a:r>
            <a:r>
              <a:rPr lang="en-US" sz="1000" b="1" i="0" u="none" strike="noStrike" cap="none">
                <a:solidFill>
                  <a:schemeClr val="hlink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5"/>
              </a:rPr>
              <a:t>Slidesgo</a:t>
            </a:r>
            <a:r>
              <a:rPr lang="en-US" sz="10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, and includes icons, infographics &amp; images by </a:t>
            </a:r>
            <a:r>
              <a:rPr lang="en-US" sz="1000" b="1" i="0" u="none" strike="noStrike" cap="none">
                <a:solidFill>
                  <a:schemeClr val="hlink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6"/>
              </a:rPr>
              <a:t>Freepik</a:t>
            </a:r>
            <a:r>
              <a:rPr lang="en-US" sz="10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sz="1000" b="1" i="0" u="sng" strike="noStrike" cap="none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oogle Shape;36;p6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37" name="Google Shape;37;p6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38;p6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" name="Google Shape;39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Darker Grotesque SemiBold"/>
              <a:buChar char="●"/>
              <a:defRPr sz="1200">
                <a:solidFill>
                  <a:srgbClr val="434343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5325B"/>
              </a:buClr>
              <a:buSzPts val="1400"/>
              <a:buFont typeface="Darker Grotesque SemiBold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7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43" name="Google Shape;43;p7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4" name="Google Shape;44;p7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3998400" cy="144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1609625" y="2066125"/>
            <a:ext cx="3824100" cy="25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>
            <a:spLocks noGrp="1"/>
          </p:cNvSpPr>
          <p:nvPr>
            <p:ph type="pic" idx="2"/>
          </p:nvPr>
        </p:nvSpPr>
        <p:spPr>
          <a:xfrm>
            <a:off x="5715849" y="0"/>
            <a:ext cx="3428100" cy="5143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8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0" name="Google Shape;50;p8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1" name="Google Shape;51;p8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oogle Shape;54;p9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55" name="Google Shape;55;p9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56;p9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720064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subTitle" idx="2"/>
          </p:nvPr>
        </p:nvSpPr>
        <p:spPr>
          <a:xfrm>
            <a:off x="4826936" y="1580125"/>
            <a:ext cx="3597000" cy="23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oogle Shape;61;p10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2" name="Google Shape;62;p10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Google Shape;63;p10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4" name="Google Shape;64;p10"/>
          <p:cNvSpPr txBox="1">
            <a:spLocks noGrp="1"/>
          </p:cNvSpPr>
          <p:nvPr>
            <p:ph type="title" hasCustomPrompt="1"/>
          </p:nvPr>
        </p:nvSpPr>
        <p:spPr>
          <a:xfrm>
            <a:off x="1284000" y="1952850"/>
            <a:ext cx="6576000" cy="7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5" name="Google Shape;65;p10"/>
          <p:cNvSpPr txBox="1">
            <a:spLocks noGrp="1"/>
          </p:cNvSpPr>
          <p:nvPr>
            <p:ph type="subTitle" idx="1"/>
          </p:nvPr>
        </p:nvSpPr>
        <p:spPr>
          <a:xfrm>
            <a:off x="1284000" y="2816250"/>
            <a:ext cx="6576000" cy="37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12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69" name="Google Shape;69;p12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0" name="Google Shape;70;p12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1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13"/>
          <p:cNvGrpSpPr/>
          <p:nvPr/>
        </p:nvGrpSpPr>
        <p:grpSpPr>
          <a:xfrm>
            <a:off x="84988" y="78599"/>
            <a:ext cx="8974027" cy="4925051"/>
            <a:chOff x="84988" y="78599"/>
            <a:chExt cx="8974027" cy="4925051"/>
          </a:xfrm>
        </p:grpSpPr>
        <p:pic>
          <p:nvPicPr>
            <p:cNvPr id="74" name="Google Shape;74;p13" title="Sin título-7.png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84988" y="78599"/>
              <a:ext cx="8974027" cy="49250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75;p13" title="Sin título-2.png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0400" y="196675"/>
              <a:ext cx="8645002" cy="30814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T323"/>
              <a:buNone/>
              <a:defRPr sz="32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●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○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"/>
              <a:buChar char="■"/>
              <a:defRPr sz="1400" b="0" i="0" u="none" strike="noStrike" cap="none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5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805375" y="1326777"/>
            <a:ext cx="2831677" cy="2250142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2" name="Google Shape;82;p15"/>
          <p:cNvSpPr txBox="1">
            <a:spLocks noGrp="1"/>
          </p:cNvSpPr>
          <p:nvPr>
            <p:ph type="ctrTitle"/>
          </p:nvPr>
        </p:nvSpPr>
        <p:spPr>
          <a:xfrm>
            <a:off x="435853" y="2290528"/>
            <a:ext cx="5060700" cy="7012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en-US"/>
              <a:t>Arcdetektálás</a:t>
            </a:r>
            <a:endParaRPr/>
          </a:p>
        </p:txBody>
      </p:sp>
      <p:sp>
        <p:nvSpPr>
          <p:cNvPr id="83" name="Google Shape;83;p15"/>
          <p:cNvSpPr txBox="1"/>
          <p:nvPr/>
        </p:nvSpPr>
        <p:spPr>
          <a:xfrm>
            <a:off x="435853" y="205291"/>
            <a:ext cx="6278711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Bakos Rózsa Ajándék, Kálmán Előd Arto, Németh Bence Máté, Nyerges Bálint</a:t>
            </a:r>
            <a:endParaRPr sz="1600" b="0" i="0" u="none" strike="noStrike" cap="none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Projekt Célja</a:t>
            </a:r>
            <a:endParaRPr/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"/>
          </p:nvPr>
        </p:nvSpPr>
        <p:spPr>
          <a:xfrm>
            <a:off x="1522850" y="1816950"/>
            <a:ext cx="69186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sz="1600"/>
              <a:t>Átfogóan megvizsgáljuk, hogyan fejlődött az arcdetektálás</a:t>
            </a:r>
            <a:endParaRPr/>
          </a:p>
          <a:p>
            <a:pPr marL="742950" lvl="1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sz="1600"/>
              <a:t>Haar Cascade</a:t>
            </a:r>
            <a:endParaRPr sz="1600"/>
          </a:p>
          <a:p>
            <a:pPr marL="742950" lvl="1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sz="1600"/>
              <a:t>Modern, neurális háló alapú megoldások(Caffe és a YuNet)</a:t>
            </a:r>
            <a:endParaRPr/>
          </a:p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 sz="1600"/>
              <a:t>Ezt ne parancssorból kelljen futtatni, hanem egy felhasználóbarát grafikus felületen keresztül lehessen vezérelni és összehasonlítani az eredményeket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8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09675" y="1212525"/>
            <a:ext cx="2947200" cy="2803663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1" name="Google Shape;101;p18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US"/>
              <a:t>Megközelítés – Haar Cascade</a:t>
            </a: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body" idx="1"/>
          </p:nvPr>
        </p:nvSpPr>
        <p:spPr>
          <a:xfrm>
            <a:off x="3789425" y="1716249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Sok kicsi, gyorsan számolható Haar-jellemzőt (Haar features) használ.</a:t>
            </a:r>
            <a:endParaRPr/>
          </a:p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Kis fekete-fehér téglalapmintákat csúsztat a képen, és megnézi, hogy a világos–sötét mintázat mennyire hasonlít a tanult objektumhoz.</a:t>
            </a:r>
            <a:endParaRPr/>
          </a:p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Szürkeárnyalatos képeken dolgozik.</a:t>
            </a:r>
            <a:endParaRPr/>
          </a:p>
          <a:p>
            <a:pPr marL="28575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Gyors és egyszerű felismerő, de ma már sokkal jobb, modernebb módszerek is léteznek.</a:t>
            </a:r>
            <a:endParaRPr/>
          </a:p>
        </p:txBody>
      </p:sp>
      <p:grpSp>
        <p:nvGrpSpPr>
          <p:cNvPr id="103" name="Google Shape;103;p18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04" name="Google Shape;104;p18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" name="Google Shape;105;p18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9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22525" y="1212525"/>
            <a:ext cx="2947200" cy="2794699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1" name="Google Shape;111;p19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US"/>
              <a:t>Megközelítés – DNN</a:t>
            </a:r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1"/>
          </p:nvPr>
        </p:nvSpPr>
        <p:spPr>
          <a:xfrm>
            <a:off x="3789425" y="1599564"/>
            <a:ext cx="4940100" cy="2766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A modern arcfelismerés már neurális hálókat használ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Caffe alapú DNN modell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SSD (Single Shot Detector) architektúrát használ, ResNet-10 alapon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Színes képeken dolgozik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Pixel-szintű mintázatok helyett komplexebb vonásokat keres</a:t>
            </a:r>
            <a:endParaRPr/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Sokkal stabilabb változó fényviszonyok között is</a:t>
            </a:r>
            <a:endParaRPr/>
          </a:p>
        </p:txBody>
      </p:sp>
      <p:grpSp>
        <p:nvGrpSpPr>
          <p:cNvPr id="113" name="Google Shape;113;p19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14" name="Google Shape;114;p19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5" name="Google Shape;115;p19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20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522525" y="1212525"/>
            <a:ext cx="2947200" cy="2919639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1" name="Google Shape;121;p20"/>
          <p:cNvSpPr txBox="1">
            <a:spLocks noGrp="1"/>
          </p:cNvSpPr>
          <p:nvPr>
            <p:ph type="title"/>
          </p:nvPr>
        </p:nvSpPr>
        <p:spPr>
          <a:xfrm>
            <a:off x="3789425" y="795800"/>
            <a:ext cx="4547700" cy="12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US"/>
              <a:t>Megközelítés - YuNet</a:t>
            </a:r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body" idx="1"/>
          </p:nvPr>
        </p:nvSpPr>
        <p:spPr>
          <a:xfrm>
            <a:off x="3789425" y="1599564"/>
            <a:ext cx="4940100" cy="25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Legmodernebb megoldás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OpenCV Zoo-ból integrált, .onnx formátumban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Rendkívül kicsi és gyors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•"/>
            </a:pPr>
            <a:r>
              <a:rPr lang="en-US"/>
              <a:t>Képes megtalálni azokat az arcokat is, amik profilból látszanak, vagy részben takarásban vannak(ahol a klasszikus algoritmusok kudarcot vallanak)</a:t>
            </a:r>
            <a:endParaRPr/>
          </a:p>
        </p:txBody>
      </p:sp>
      <p:grpSp>
        <p:nvGrpSpPr>
          <p:cNvPr id="123" name="Google Shape;123;p20"/>
          <p:cNvGrpSpPr/>
          <p:nvPr/>
        </p:nvGrpSpPr>
        <p:grpSpPr>
          <a:xfrm>
            <a:off x="511225" y="947025"/>
            <a:ext cx="2971350" cy="265500"/>
            <a:chOff x="511225" y="947025"/>
            <a:chExt cx="2971350" cy="265500"/>
          </a:xfrm>
        </p:grpSpPr>
        <p:pic>
          <p:nvPicPr>
            <p:cNvPr id="124" name="Google Shape;124;p20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277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5" name="Google Shape;125;p20" title="Sin título-2.png"/>
            <p:cNvPicPr preferRelativeResize="0"/>
            <p:nvPr/>
          </p:nvPicPr>
          <p:blipFill rotWithShape="1">
            <a:blip r:embed="rId4">
              <a:alphaModFix/>
            </a:blip>
            <a:srcRect l="60127"/>
            <a:stretch/>
          </p:blipFill>
          <p:spPr>
            <a:xfrm>
              <a:off x="511225" y="947025"/>
              <a:ext cx="2969800" cy="2655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>
            <a:spLocks noGrp="1"/>
          </p:cNvSpPr>
          <p:nvPr>
            <p:ph type="title"/>
          </p:nvPr>
        </p:nvSpPr>
        <p:spPr>
          <a:xfrm>
            <a:off x="679225" y="79467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Megközelítés – Saját megoldás</a:t>
            </a:r>
            <a:endParaRPr/>
          </a:p>
        </p:txBody>
      </p:sp>
      <p:sp>
        <p:nvSpPr>
          <p:cNvPr id="131" name="Google Shape;131;p21"/>
          <p:cNvSpPr txBox="1">
            <a:spLocks noGrp="1"/>
          </p:cNvSpPr>
          <p:nvPr>
            <p:ph type="subTitle" idx="1"/>
          </p:nvPr>
        </p:nvSpPr>
        <p:spPr>
          <a:xfrm>
            <a:off x="4029575" y="1816950"/>
            <a:ext cx="4411800" cy="25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Regressziós feladat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3 rétegű CNN maxpool-okkal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Vizsgáltam még:</a:t>
            </a:r>
            <a:endParaRPr/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/>
              <a:t>Tradicionális ML megoldások</a:t>
            </a:r>
            <a:endParaRPr/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/>
              <a:t>Egyszerű NN</a:t>
            </a:r>
            <a:endParaRPr/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/>
              <a:t>Klasszifikációs feladatként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MSE</a:t>
            </a:r>
            <a:endParaRPr/>
          </a:p>
          <a:p>
            <a:pPr marL="91440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US"/>
              <a:t>~0.3 (+/-1 arc képenként)</a:t>
            </a:r>
            <a:endParaRPr/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US"/>
              <a:t>Arcszámlálásban ügyes, azok megtalálásában kevésbé</a:t>
            </a:r>
            <a:endParaRPr/>
          </a:p>
        </p:txBody>
      </p:sp>
      <p:pic>
        <p:nvPicPr>
          <p:cNvPr id="132" name="Google Shape;13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9225" y="1493075"/>
            <a:ext cx="3132413" cy="286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>
            <a:spLocks noGrp="1"/>
          </p:cNvSpPr>
          <p:nvPr>
            <p:ph type="title"/>
          </p:nvPr>
        </p:nvSpPr>
        <p:spPr>
          <a:xfrm>
            <a:off x="679225" y="705025"/>
            <a:ext cx="78666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GUI</a:t>
            </a:r>
            <a:endParaRPr/>
          </a:p>
        </p:txBody>
      </p:sp>
      <p:pic>
        <p:nvPicPr>
          <p:cNvPr id="138" name="Google Shape;138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43383" y="1403425"/>
            <a:ext cx="3738283" cy="3349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>
            <a:spLocks noGrp="1"/>
          </p:cNvSpPr>
          <p:nvPr>
            <p:ph type="title"/>
          </p:nvPr>
        </p:nvSpPr>
        <p:spPr>
          <a:xfrm>
            <a:off x="5694050" y="676450"/>
            <a:ext cx="3255900" cy="18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 sz="3800"/>
              <a:t>Algoritmusok összehasonlítása GUI</a:t>
            </a:r>
            <a:endParaRPr sz="3800"/>
          </a:p>
        </p:txBody>
      </p:sp>
      <p:pic>
        <p:nvPicPr>
          <p:cNvPr id="144" name="Google Shape;144;p2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5975" y="817825"/>
            <a:ext cx="5594550" cy="387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4"/>
          <p:cNvSpPr txBox="1">
            <a:spLocks noGrp="1"/>
          </p:cNvSpPr>
          <p:nvPr>
            <p:ph type="title"/>
          </p:nvPr>
        </p:nvSpPr>
        <p:spPr>
          <a:xfrm>
            <a:off x="192150" y="696150"/>
            <a:ext cx="87597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/>
              <a:t>Eredményeké és összehasonlítás</a:t>
            </a:r>
            <a:endParaRPr/>
          </a:p>
        </p:txBody>
      </p:sp>
      <p:graphicFrame>
        <p:nvGraphicFramePr>
          <p:cNvPr id="150" name="Google Shape;150;p24"/>
          <p:cNvGraphicFramePr/>
          <p:nvPr/>
        </p:nvGraphicFramePr>
        <p:xfrm>
          <a:off x="638700" y="1493075"/>
          <a:ext cx="7866600" cy="3139380"/>
        </p:xfrm>
        <a:graphic>
          <a:graphicData uri="http://schemas.openxmlformats.org/drawingml/2006/table">
            <a:tbl>
              <a:tblPr>
                <a:noFill/>
                <a:tableStyleId>{3479EEE4-8326-451E-9463-3B67C47A2025}</a:tableStyleId>
              </a:tblPr>
              <a:tblGrid>
                <a:gridCol w="393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566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YuNet (A leghatékonyabb):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Legpontosabb: 71,34% (Arclétszám) és 88,42% (Bounding Box).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Legtöbb találat: 24 461 detektált arc.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DNN (A legmegbízhatóbb):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Minimális hiba: Mindössze 26 db téves ("túl sok") detektálás, ami kiemelkedően tiszta működést jelent.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7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Saját CNN: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Magas érzékenység (23 242 találat), de alacsony pontosság (11,59% BBox).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Sok a téves riasztás (2359 db "túl sok" hiba), így a modell még finomhangolásra szorul.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Haar Cascade:</a:t>
                      </a: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US" sz="1400" u="none" strike="noStrike" cap="none"/>
                        <a:t>Elavult technológia, alacsony hatékonysággal (19,07% pontosság).</a:t>
                      </a:r>
                      <a:endParaRPr sz="1400" u="none" strike="noStrike" cap="none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5"/>
          <p:cNvSpPr txBox="1">
            <a:spLocks noGrp="1"/>
          </p:cNvSpPr>
          <p:nvPr>
            <p:ph type="title"/>
          </p:nvPr>
        </p:nvSpPr>
        <p:spPr>
          <a:xfrm>
            <a:off x="669774" y="1143000"/>
            <a:ext cx="4823299" cy="5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4000"/>
              <a:t>Köszönjük a figyelmet!</a:t>
            </a:r>
            <a:endParaRPr sz="4000"/>
          </a:p>
        </p:txBody>
      </p:sp>
      <p:sp>
        <p:nvSpPr>
          <p:cNvPr id="156" name="Google Shape;156;p25"/>
          <p:cNvSpPr txBox="1">
            <a:spLocks noGrp="1"/>
          </p:cNvSpPr>
          <p:nvPr>
            <p:ph type="subTitle" idx="1"/>
          </p:nvPr>
        </p:nvSpPr>
        <p:spPr>
          <a:xfrm>
            <a:off x="669775" y="1850750"/>
            <a:ext cx="3683400" cy="9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Kérdések?</a:t>
            </a:r>
            <a:endParaRPr/>
          </a:p>
        </p:txBody>
      </p:sp>
      <p:sp>
        <p:nvSpPr>
          <p:cNvPr id="157" name="Google Shape;157;p25"/>
          <p:cNvSpPr txBox="1"/>
          <p:nvPr/>
        </p:nvSpPr>
        <p:spPr>
          <a:xfrm>
            <a:off x="341850" y="205291"/>
            <a:ext cx="6139632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0" i="0" u="none" strike="noStrike" cap="none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Bakos Rózsa Ajándék, Kálmán Előd Arto, Németh Bence Máté, Nyerges Bálint</a:t>
            </a:r>
            <a:endParaRPr sz="1600" b="0" i="0" u="none" strike="noStrike" cap="none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y Presentation Template">
  <a:themeElements>
    <a:clrScheme name="Simple Light">
      <a:dk1>
        <a:srgbClr val="191919"/>
      </a:dk1>
      <a:lt1>
        <a:srgbClr val="EFEFEF"/>
      </a:lt1>
      <a:dk2>
        <a:srgbClr val="707070"/>
      </a:dk2>
      <a:lt2>
        <a:srgbClr val="C1C1B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350</Words>
  <Application>Microsoft Office PowerPoint</Application>
  <PresentationFormat>Diavetítés a képernyőre (16:9 oldalarány)</PresentationFormat>
  <Paragraphs>56</Paragraphs>
  <Slides>10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5" baseType="lpstr">
      <vt:lpstr>Arial</vt:lpstr>
      <vt:lpstr>VT323</vt:lpstr>
      <vt:lpstr>Roboto Mono</vt:lpstr>
      <vt:lpstr>Darker Grotesque SemiBold</vt:lpstr>
      <vt:lpstr>My Presentation Template</vt:lpstr>
      <vt:lpstr>Arcdetektálás</vt:lpstr>
      <vt:lpstr>Projekt Célja</vt:lpstr>
      <vt:lpstr>Megközelítés – Haar Cascade</vt:lpstr>
      <vt:lpstr>Megközelítés – DNN</vt:lpstr>
      <vt:lpstr>Megközelítés - YuNet</vt:lpstr>
      <vt:lpstr>Megközelítés – Saját megoldás</vt:lpstr>
      <vt:lpstr>GUI</vt:lpstr>
      <vt:lpstr>Algoritmusok összehasonlítása GUI</vt:lpstr>
      <vt:lpstr>Eredményeké és összehasonlítás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Arcdetektálás</dc:title>
  <cp:lastModifiedBy>User</cp:lastModifiedBy>
  <cp:revision>1</cp:revision>
  <dcterms:modified xsi:type="dcterms:W3CDTF">2025-11-30T15:25:07Z</dcterms:modified>
</cp:coreProperties>
</file>