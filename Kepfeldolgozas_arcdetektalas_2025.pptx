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VT323"/>
      <p:regular r:id="rId17"/>
    </p:embeddedFont>
    <p:embeddedFont>
      <p:font typeface="Roboto Mono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479EEE4-8326-451E-9463-3B67C47A2025}">
  <a:tblStyle styleId="{3479EEE4-8326-451E-9463-3B67C47A20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RobotoMono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VT323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Mono-bold.fntdata"/><Relationship Id="rId6" Type="http://schemas.openxmlformats.org/officeDocument/2006/relationships/slide" Target="slides/slide1.xml"/><Relationship Id="rId18" Type="http://schemas.openxmlformats.org/officeDocument/2006/relationships/font" Target="fonts/RobotoMono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2" name="Google Shape;92;p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hyperlink" Target="https://bit.ly/3A1uf1Q" TargetMode="External"/><Relationship Id="rId6" Type="http://schemas.openxmlformats.org/officeDocument/2006/relationships/hyperlink" Target="http://bit.ly/2TtBDfr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0" name="Google Shape;10;p2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2"/>
          <p:cNvSpPr/>
          <p:nvPr>
            <p:ph idx="2" type="pic"/>
          </p:nvPr>
        </p:nvSpPr>
        <p:spPr>
          <a:xfrm>
            <a:off x="5805375" y="1317075"/>
            <a:ext cx="2831700" cy="26481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2"/>
          <p:cNvSpPr txBox="1"/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06800" y="3364900"/>
            <a:ext cx="4351500" cy="11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5" name="Google Shape;15;p2" title="Sin título-2.png"/>
          <p:cNvPicPr preferRelativeResize="0"/>
          <p:nvPr/>
        </p:nvPicPr>
        <p:blipFill rotWithShape="1">
          <a:blip r:embed="rId3">
            <a:alphaModFix/>
          </a:blip>
          <a:srcRect b="0" l="61982" r="0" t="0"/>
          <a:stretch/>
        </p:blipFill>
        <p:spPr>
          <a:xfrm>
            <a:off x="5805376" y="1051575"/>
            <a:ext cx="2831677" cy="265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3" title="Sin título-7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subTitle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" name="Google Shape;20;p3" title="Sin título-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4" title="Sin título-7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/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/>
          <p:nvPr>
            <p:ph idx="2" type="pic"/>
          </p:nvPr>
        </p:nvSpPr>
        <p:spPr>
          <a:xfrm>
            <a:off x="522525" y="1195150"/>
            <a:ext cx="2947200" cy="3341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26" name="Google Shape;26;p4" title="Sin título-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oogle Shape;28;p5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29" name="Google Shape;29;p5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5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Google Shape;31;p5"/>
          <p:cNvSpPr txBox="1"/>
          <p:nvPr>
            <p:ph type="title"/>
          </p:nvPr>
        </p:nvSpPr>
        <p:spPr>
          <a:xfrm>
            <a:off x="669775" y="1143000"/>
            <a:ext cx="3852300" cy="56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32" name="Google Shape;32;p5"/>
          <p:cNvSpPr txBox="1"/>
          <p:nvPr>
            <p:ph idx="1" type="subTitle"/>
          </p:nvPr>
        </p:nvSpPr>
        <p:spPr>
          <a:xfrm>
            <a:off x="669775" y="1850750"/>
            <a:ext cx="3683400" cy="9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3" name="Google Shape;33;p5" title="Sin título-9.png"/>
          <p:cNvPicPr preferRelativeResize="0"/>
          <p:nvPr/>
        </p:nvPicPr>
        <p:blipFill rotWithShape="1">
          <a:blip r:embed="rId4">
            <a:alphaModFix/>
          </a:blip>
          <a:srcRect b="47106" l="19762" r="19445" t="14675"/>
          <a:stretch/>
        </p:blipFill>
        <p:spPr>
          <a:xfrm>
            <a:off x="4549250" y="1778300"/>
            <a:ext cx="3953100" cy="2485174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/>
          <p:nvPr/>
        </p:nvSpPr>
        <p:spPr>
          <a:xfrm>
            <a:off x="4865450" y="2464525"/>
            <a:ext cx="3320700" cy="5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CREDITS:</a:t>
            </a:r>
            <a:r>
              <a:rPr b="0" i="0" lang="en-US" sz="10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This presentation template was created by </a:t>
            </a:r>
            <a:r>
              <a:rPr b="1" i="0" lang="en-US" sz="1000" u="none" cap="none" strike="noStrike">
                <a:solidFill>
                  <a:schemeClr val="hlink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5"/>
              </a:rPr>
              <a:t>Slidesgo</a:t>
            </a:r>
            <a:r>
              <a:rPr b="0" i="0" lang="en-US" sz="10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, and includes icons, infographics &amp; images by </a:t>
            </a:r>
            <a:r>
              <a:rPr b="1" i="0" lang="en-US" sz="1000" u="none" cap="none" strike="noStrike">
                <a:solidFill>
                  <a:schemeClr val="hlink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6"/>
              </a:rPr>
              <a:t>Freepik</a:t>
            </a:r>
            <a:r>
              <a:rPr b="0" i="0" lang="en-US" sz="10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endParaRPr b="1" i="0" sz="1000" u="sng" cap="none" strike="noStrike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oogle Shape;36;p6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37" name="Google Shape;37;p6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Google Shape;38;p6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" name="Google Shape;39;p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3" name="Google Shape;43;p7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Google Shape;44;p7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" name="Google Shape;45;p7"/>
          <p:cNvSpPr txBox="1"/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7"/>
          <p:cNvSpPr/>
          <p:nvPr>
            <p:ph idx="2" type="pic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8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0" name="Google Shape;50;p8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51;p8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2" name="Google Shape;52;p8"/>
          <p:cNvSpPr txBox="1"/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9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5" name="Google Shape;55;p9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9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" name="Google Shape;57;p9"/>
          <p:cNvSpPr txBox="1"/>
          <p:nvPr>
            <p:ph idx="1" type="subTitle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2" type="subTitle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oogle Shape;61;p10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2" name="Google Shape;62;p10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63;p10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4" name="Google Shape;64;p10"/>
          <p:cNvSpPr txBox="1"/>
          <p:nvPr>
            <p:ph hasCustomPrompt="1" type="title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5" name="Google Shape;65;p10"/>
          <p:cNvSpPr txBox="1"/>
          <p:nvPr>
            <p:ph idx="1" type="subTitle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2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oogle Shape;68;p1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9" name="Google Shape;69;p12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" name="Google Shape;70;p12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1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13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74" name="Google Shape;74;p13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75;p13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_1_1_1_1_1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5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05375" y="1326777"/>
            <a:ext cx="2831677" cy="225014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2" name="Google Shape;82;p15"/>
          <p:cNvSpPr txBox="1"/>
          <p:nvPr>
            <p:ph type="ctrTitle"/>
          </p:nvPr>
        </p:nvSpPr>
        <p:spPr>
          <a:xfrm>
            <a:off x="435853" y="2290528"/>
            <a:ext cx="5060700" cy="70129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-US"/>
              <a:t>Arcdetektálás</a:t>
            </a:r>
            <a:endParaRPr/>
          </a:p>
        </p:txBody>
      </p:sp>
      <p:sp>
        <p:nvSpPr>
          <p:cNvPr id="83" name="Google Shape;83;p15"/>
          <p:cNvSpPr txBox="1"/>
          <p:nvPr/>
        </p:nvSpPr>
        <p:spPr>
          <a:xfrm>
            <a:off x="435853" y="205291"/>
            <a:ext cx="6278711" cy="26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Bakos Rózsa Ajándék, Kálmán Előd Arto, Németh Bence Máté, Nyerges Bálint</a:t>
            </a:r>
            <a:endParaRPr b="0" i="0" sz="1600" u="none" cap="none" strike="noStrike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/>
              <a:t>Projekt Célja</a:t>
            </a:r>
            <a:endParaRPr/>
          </a:p>
        </p:txBody>
      </p:sp>
      <p:sp>
        <p:nvSpPr>
          <p:cNvPr id="89" name="Google Shape;89;p16"/>
          <p:cNvSpPr txBox="1"/>
          <p:nvPr>
            <p:ph idx="1" type="subTitle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sz="1600"/>
              <a:t>Átfogóan megvizsgáljuk, hogyan fejlődött az arcdetektálás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sz="1600"/>
              <a:t>Haar Cascade</a:t>
            </a:r>
            <a:endParaRPr sz="1600"/>
          </a:p>
          <a:p>
            <a:pPr indent="-285750" lvl="1" marL="7429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sz="1600"/>
              <a:t>Modern, neurális háló alapú megoldások(Caffe és a YuNet)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sz="1600"/>
              <a:t>Ezt ne parancssorból kelljen futtatni, hanem egy felhasználóbarát grafikus felületen keresztül lehessen vezérelni és összehasonlítani az eredményeket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 txBox="1"/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/>
              <a:t>Feladat és eszközök</a:t>
            </a:r>
            <a:endParaRPr/>
          </a:p>
        </p:txBody>
      </p:sp>
      <p:sp>
        <p:nvSpPr>
          <p:cNvPr id="95" name="Google Shape;95;p17"/>
          <p:cNvSpPr txBox="1"/>
          <p:nvPr>
            <p:ph idx="1" type="subTitle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9675" y="1212525"/>
            <a:ext cx="2947200" cy="2803663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1" name="Google Shape;101;p18"/>
          <p:cNvSpPr txBox="1"/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US"/>
              <a:t>Megközelítés – Haar Cascade</a:t>
            </a:r>
            <a:endParaRPr/>
          </a:p>
        </p:txBody>
      </p:sp>
      <p:sp>
        <p:nvSpPr>
          <p:cNvPr id="102" name="Google Shape;102;p18"/>
          <p:cNvSpPr txBox="1"/>
          <p:nvPr>
            <p:ph idx="1" type="body"/>
          </p:nvPr>
        </p:nvSpPr>
        <p:spPr>
          <a:xfrm>
            <a:off x="3789425" y="1716249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Sok kicsi, gyorsan számolható Haar-jellemzőt (Haar features) használ.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Kis fekete-fehér téglalapmintákat csúsztat a képen, és megnézi, hogy a világos–sötét mintázat mennyire hasonlít a tanult objektumhoz.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Szürkeárnyalatos képeken dolgozik.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Gyors és egyszerű felismerő, de ma már sokkal jobb, modernebb módszerek is léteznek.</a:t>
            </a:r>
            <a:endParaRPr/>
          </a:p>
        </p:txBody>
      </p:sp>
      <p:grpSp>
        <p:nvGrpSpPr>
          <p:cNvPr id="103" name="Google Shape;103;p18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04" name="Google Shape;104;p18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" name="Google Shape;105;p18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525" y="1212525"/>
            <a:ext cx="2947200" cy="27946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11" name="Google Shape;111;p19"/>
          <p:cNvSpPr txBox="1"/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US"/>
              <a:t>Megközelítés – DNN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789425" y="1599564"/>
            <a:ext cx="4940100" cy="27662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A modern arcfelismerés már neurális hálókat használ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Caffe alapú DNN modell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SSD (Single Shot Detector) architektúrát használ, ResNet-10 alapon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Színes képeken dolgozik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Pixel-szintű mintázatok helyett komplexebb vonásokat keres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Sokkal stabilabb változó fényviszonyok között is</a:t>
            </a:r>
            <a:endParaRPr/>
          </a:p>
        </p:txBody>
      </p:sp>
      <p:grpSp>
        <p:nvGrpSpPr>
          <p:cNvPr id="113" name="Google Shape;113;p19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14" name="Google Shape;114;p19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19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20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525" y="1212525"/>
            <a:ext cx="2947200" cy="291963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1" name="Google Shape;121;p20"/>
          <p:cNvSpPr txBox="1"/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US"/>
              <a:t>Megközelítés - YuNet</a:t>
            </a:r>
            <a:endParaRPr/>
          </a:p>
        </p:txBody>
      </p:sp>
      <p:sp>
        <p:nvSpPr>
          <p:cNvPr id="122" name="Google Shape;122;p20"/>
          <p:cNvSpPr txBox="1"/>
          <p:nvPr>
            <p:ph idx="1" type="body"/>
          </p:nvPr>
        </p:nvSpPr>
        <p:spPr>
          <a:xfrm>
            <a:off x="3789425" y="1599564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Legmodernebb megoldás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OpenCV Zoo-ból integrált, .onnx formátumban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Rendkívül kicsi és gyors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Képes megtalálni azokat az arcokat is, amik profilból látszanak, vagy részben takarásban vannak(ahol a klasszikus algoritmusok kudarcot vallanak)</a:t>
            </a:r>
            <a:endParaRPr/>
          </a:p>
        </p:txBody>
      </p:sp>
      <p:grpSp>
        <p:nvGrpSpPr>
          <p:cNvPr id="123" name="Google Shape;123;p20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24" name="Google Shape;124;p20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5" name="Google Shape;125;p20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/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/>
              <a:t>Megközelítés – Saját megoldás</a:t>
            </a:r>
            <a:endParaRPr/>
          </a:p>
        </p:txBody>
      </p:sp>
      <p:sp>
        <p:nvSpPr>
          <p:cNvPr id="131" name="Google Shape;131;p21"/>
          <p:cNvSpPr txBox="1"/>
          <p:nvPr>
            <p:ph idx="1" type="subTitle"/>
          </p:nvPr>
        </p:nvSpPr>
        <p:spPr>
          <a:xfrm>
            <a:off x="4029575" y="1816950"/>
            <a:ext cx="4411800" cy="25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Regressziós feladat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3 rétegű CNN maxpool-okkal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Vizsgáltam még:</a:t>
            </a:r>
            <a:endParaRPr/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/>
              <a:t>Tradicionális ML megoldások</a:t>
            </a:r>
            <a:endParaRPr/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/>
              <a:t>Egyszerű NN</a:t>
            </a:r>
            <a:endParaRPr/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/>
              <a:t>Klasszifikációs feladatként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MSE</a:t>
            </a:r>
            <a:endParaRPr/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/>
              <a:t>~0.3 (+/-1 arc képenként)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Arcszámlálásban ügyes, azok megtalálásában kevésbé</a:t>
            </a:r>
            <a:endParaRPr/>
          </a:p>
        </p:txBody>
      </p:sp>
      <p:pic>
        <p:nvPicPr>
          <p:cNvPr id="132" name="Google Shape;13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9225" y="1493075"/>
            <a:ext cx="3132413" cy="286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679225" y="70502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/>
              <a:t>GUI</a:t>
            </a:r>
            <a:endParaRPr/>
          </a:p>
        </p:txBody>
      </p:sp>
      <p:pic>
        <p:nvPicPr>
          <p:cNvPr id="138" name="Google Shape;13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383" y="1403425"/>
            <a:ext cx="3738283" cy="3349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type="title"/>
          </p:nvPr>
        </p:nvSpPr>
        <p:spPr>
          <a:xfrm>
            <a:off x="5694050" y="676450"/>
            <a:ext cx="3255900" cy="18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 sz="3800"/>
              <a:t>Algoritmusok összehasonlítása GUI</a:t>
            </a:r>
            <a:endParaRPr sz="3800"/>
          </a:p>
        </p:txBody>
      </p:sp>
      <p:pic>
        <p:nvPicPr>
          <p:cNvPr id="144" name="Google Shape;14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5975" y="817825"/>
            <a:ext cx="5594550" cy="3872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4"/>
          <p:cNvSpPr txBox="1"/>
          <p:nvPr>
            <p:ph type="title"/>
          </p:nvPr>
        </p:nvSpPr>
        <p:spPr>
          <a:xfrm>
            <a:off x="192150" y="696150"/>
            <a:ext cx="87597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/>
              <a:t>Eredményeké és összehasonlítás</a:t>
            </a:r>
            <a:endParaRPr/>
          </a:p>
        </p:txBody>
      </p:sp>
      <p:graphicFrame>
        <p:nvGraphicFramePr>
          <p:cNvPr id="150" name="Google Shape;150;p24"/>
          <p:cNvGraphicFramePr/>
          <p:nvPr/>
        </p:nvGraphicFramePr>
        <p:xfrm>
          <a:off x="638700" y="1493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{3479EEE4-8326-451E-9463-3B67C47A2025}</a:tableStyleId>
              </a:tblPr>
              <a:tblGrid>
                <a:gridCol w="3933300"/>
                <a:gridCol w="3933300"/>
              </a:tblGrid>
              <a:tr h="1456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/>
                        <a:t>YuNet (A leghatékonyabb):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/>
                        <a:t>Legpontosabb: 71,34% (Arclétszám) és 88,42% (Bounding Box).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/>
                        <a:t>Legtöbb találat: 24 461 detektált arc.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/>
                        <a:t>DNN (A legmegbízhatóbb):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/>
                        <a:t>Minimális hiba: Mindössze 26 db téves ("túl sok") detektálás, ami kiemelkedően tiszta működést jelent.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557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/>
                        <a:t>Saját CNN: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/>
                        <a:t>Magas érzékenység (23 242 találat), de alacsony pontosság (11,59% BBox).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/>
                        <a:t>Sok a téves riasztás (2359 db "túl sok" hiba), így a modell még finomhangolásra szorul.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/>
                        <a:t>Haar Cascade: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cap="none" strike="noStrike"/>
                        <a:t>Elavult technológia, alacsony hatékonysággal (19,07% pontosság).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5"/>
          <p:cNvSpPr txBox="1"/>
          <p:nvPr>
            <p:ph type="title"/>
          </p:nvPr>
        </p:nvSpPr>
        <p:spPr>
          <a:xfrm>
            <a:off x="669774" y="1143000"/>
            <a:ext cx="4823299" cy="56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4000"/>
              <a:t>Köszönjük a figyelmet!</a:t>
            </a:r>
            <a:endParaRPr sz="4000"/>
          </a:p>
        </p:txBody>
      </p:sp>
      <p:sp>
        <p:nvSpPr>
          <p:cNvPr id="156" name="Google Shape;156;p25"/>
          <p:cNvSpPr txBox="1"/>
          <p:nvPr>
            <p:ph idx="1" type="subTitle"/>
          </p:nvPr>
        </p:nvSpPr>
        <p:spPr>
          <a:xfrm>
            <a:off x="669775" y="1850750"/>
            <a:ext cx="3683400" cy="9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Kérdések?</a:t>
            </a:r>
            <a:endParaRPr/>
          </a:p>
        </p:txBody>
      </p:sp>
      <p:sp>
        <p:nvSpPr>
          <p:cNvPr id="157" name="Google Shape;157;p25"/>
          <p:cNvSpPr txBox="1"/>
          <p:nvPr/>
        </p:nvSpPr>
        <p:spPr>
          <a:xfrm>
            <a:off x="341850" y="205291"/>
            <a:ext cx="6139632" cy="26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Bakos Rózsa Ajándék, Kálmán Előd Arto, Németh Bence Máté, Nyerges Bálint</a:t>
            </a:r>
            <a:endParaRPr b="0" i="0" sz="1600" u="none" cap="none" strike="noStrike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y Presentation Template">
  <a:themeElements>
    <a:clrScheme name="Simple Light">
      <a:dk1>
        <a:srgbClr val="191919"/>
      </a:dk1>
      <a:lt1>
        <a:srgbClr val="EFEFEF"/>
      </a:lt1>
      <a:dk2>
        <a:srgbClr val="707070"/>
      </a:dk2>
      <a:lt2>
        <a:srgbClr val="C1C1B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