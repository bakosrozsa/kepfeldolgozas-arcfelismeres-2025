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2"/>
  </p:notesMasterIdLst>
  <p:sldIdLst>
    <p:sldId id="256" r:id="rId2"/>
    <p:sldId id="261" r:id="rId3"/>
    <p:sldId id="270" r:id="rId4"/>
    <p:sldId id="259" r:id="rId5"/>
    <p:sldId id="277" r:id="rId6"/>
    <p:sldId id="278" r:id="rId7"/>
    <p:sldId id="273" r:id="rId8"/>
    <p:sldId id="274" r:id="rId9"/>
    <p:sldId id="275" r:id="rId10"/>
    <p:sldId id="269" r:id="rId11"/>
  </p:sldIdLst>
  <p:sldSz cx="9144000" cy="5143500" type="screen16x9"/>
  <p:notesSz cx="6858000" cy="9144000"/>
  <p:embeddedFontLst>
    <p:embeddedFont>
      <p:font typeface="VT323" panose="020B0604020202020204" charset="-18"/>
      <p:regular r:id="rId13"/>
    </p:embeddedFont>
    <p:embeddedFont>
      <p:font typeface="Roboto Mono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F4EF66E-F00E-484D-B05C-F52281163F9F}">
  <a:tblStyle styleId="{2F4EF66E-F00E-484D-B05C-F52281163F9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0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3fb61485ab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3fb61485ab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2717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324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36c95c0757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36c95c0757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s://bit.ly/3A1uf1Q" TargetMode="Externa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0" name="Google Shape;10;p2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5805375" y="1317075"/>
            <a:ext cx="2831700" cy="26481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606800" y="849600"/>
            <a:ext cx="5060700" cy="24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606800" y="3364900"/>
            <a:ext cx="4351500" cy="113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5" name="Google Shape;15;p2" title="Sin título-2.png"/>
          <p:cNvPicPr preferRelativeResize="0"/>
          <p:nvPr/>
        </p:nvPicPr>
        <p:blipFill rotWithShape="1">
          <a:blip r:embed="rId3">
            <a:alphaModFix/>
          </a:blip>
          <a:srcRect l="61982"/>
          <a:stretch/>
        </p:blipFill>
        <p:spPr>
          <a:xfrm>
            <a:off x="5805376" y="1051575"/>
            <a:ext cx="2831677" cy="265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28" name="Google Shape;28;p4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48" name="Google Shape;48;p7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7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>
            <a:spLocks noGrp="1"/>
          </p:cNvSpPr>
          <p:nvPr>
            <p:ph type="pic" idx="2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8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55" name="Google Shape;55;p8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8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60" name="Google Shape;60;p9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9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ubTitle" idx="2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11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72" name="Google Shape;72;p11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1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5" name="Google Shape;75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2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1"/>
          </p:nvPr>
        </p:nvSpPr>
        <p:spPr>
          <a:xfrm>
            <a:off x="1522850" y="1816950"/>
            <a:ext cx="6918600" cy="25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1" name="Google Shape;101;p14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3789425" y="795800"/>
            <a:ext cx="4547700" cy="1255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3789425" y="2229300"/>
            <a:ext cx="4940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6" name="Google Shape;106;p15"/>
          <p:cNvSpPr>
            <a:spLocks noGrp="1"/>
          </p:cNvSpPr>
          <p:nvPr>
            <p:ph type="pic" idx="2"/>
          </p:nvPr>
        </p:nvSpPr>
        <p:spPr>
          <a:xfrm>
            <a:off x="522525" y="1195150"/>
            <a:ext cx="2947200" cy="334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107" name="Google Shape;107;p1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14" name="Google Shape;114;p17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7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21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53" name="Google Shape;153;p21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21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669775" y="1143000"/>
            <a:ext cx="3852300" cy="5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subTitle" idx="1"/>
          </p:nvPr>
        </p:nvSpPr>
        <p:spPr>
          <a:xfrm>
            <a:off x="669775" y="1850750"/>
            <a:ext cx="3683400" cy="9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7" name="Google Shape;157;p21" title="Sin título-9.png"/>
          <p:cNvPicPr preferRelativeResize="0"/>
          <p:nvPr/>
        </p:nvPicPr>
        <p:blipFill rotWithShape="1">
          <a:blip r:embed="rId4">
            <a:alphaModFix/>
          </a:blip>
          <a:srcRect l="19762" t="14675" r="19446" b="47106"/>
          <a:stretch/>
        </p:blipFill>
        <p:spPr>
          <a:xfrm>
            <a:off x="4549250" y="1778300"/>
            <a:ext cx="3953100" cy="248517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1"/>
          <p:cNvSpPr txBox="1"/>
          <p:nvPr/>
        </p:nvSpPr>
        <p:spPr>
          <a:xfrm>
            <a:off x="4865450" y="2464525"/>
            <a:ext cx="33207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and includes icons,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000" b="1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22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61" name="Google Shape;161;p22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22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  <p:sldLayoutId id="2147483655" r:id="rId5"/>
    <p:sldLayoutId id="2147483657" r:id="rId6"/>
    <p:sldLayoutId id="2147483658" r:id="rId7"/>
    <p:sldLayoutId id="2147483660" r:id="rId8"/>
    <p:sldLayoutId id="2147483661" r:id="rId9"/>
    <p:sldLayoutId id="2147483663" r:id="rId10"/>
    <p:sldLayoutId id="2147483667" r:id="rId11"/>
    <p:sldLayoutId id="2147483668" r:id="rId12"/>
    <p:sldLayoutId id="2147483669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8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375" y="1326777"/>
            <a:ext cx="2831677" cy="2250142"/>
          </a:xfrm>
          <a:prstGeom prst="rect">
            <a:avLst/>
          </a:prstGeom>
        </p:spPr>
      </p:pic>
      <p:sp>
        <p:nvSpPr>
          <p:cNvPr id="180" name="Google Shape;180;p28"/>
          <p:cNvSpPr txBox="1">
            <a:spLocks noGrp="1"/>
          </p:cNvSpPr>
          <p:nvPr>
            <p:ph type="ctrTitle"/>
          </p:nvPr>
        </p:nvSpPr>
        <p:spPr>
          <a:xfrm>
            <a:off x="435853" y="2290528"/>
            <a:ext cx="5060700" cy="7012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smtClean="0"/>
              <a:t>Arcdetektálás</a:t>
            </a:r>
            <a:endParaRPr dirty="0"/>
          </a:p>
        </p:txBody>
      </p:sp>
      <p:sp>
        <p:nvSpPr>
          <p:cNvPr id="182" name="Google Shape;182;p28"/>
          <p:cNvSpPr txBox="1"/>
          <p:nvPr/>
        </p:nvSpPr>
        <p:spPr>
          <a:xfrm>
            <a:off x="435853" y="205291"/>
            <a:ext cx="6278711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 dirty="0" smtClean="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  <a:t>Bakos Rózsa Ajándék, Kálmán Előd </a:t>
            </a:r>
            <a:r>
              <a:rPr lang="hu-HU" sz="1600" dirty="0" err="1" smtClean="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  <a:t>Arto</a:t>
            </a:r>
            <a:r>
              <a:rPr lang="hu-HU" sz="1600" dirty="0" smtClean="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  <a:t>, Németh Bence Máté, Nyerges Bálint</a:t>
            </a:r>
            <a:endParaRPr sz="1600" dirty="0">
              <a:solidFill>
                <a:schemeClr val="dk1"/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 txBox="1">
            <a:spLocks noGrp="1"/>
          </p:cNvSpPr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smtClean="0"/>
              <a:t>Projekt Célja</a:t>
            </a:r>
            <a:endParaRPr dirty="0"/>
          </a:p>
        </p:txBody>
      </p:sp>
      <p:sp>
        <p:nvSpPr>
          <p:cNvPr id="271" name="Google Shape;271;p33"/>
          <p:cNvSpPr txBox="1">
            <a:spLocks noGrp="1"/>
          </p:cNvSpPr>
          <p:nvPr>
            <p:ph type="subTitle" idx="1"/>
          </p:nvPr>
        </p:nvSpPr>
        <p:spPr>
          <a:xfrm>
            <a:off x="1522850" y="1816950"/>
            <a:ext cx="6918600" cy="25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sz="1600" dirty="0"/>
              <a:t>Á</a:t>
            </a:r>
            <a:r>
              <a:rPr lang="hu-HU" sz="1600" dirty="0" smtClean="0"/>
              <a:t>tfogóan megvizsgáljuk, </a:t>
            </a:r>
            <a:r>
              <a:rPr lang="hu-HU" sz="1600" dirty="0"/>
              <a:t>hogyan fejlődött az </a:t>
            </a:r>
            <a:r>
              <a:rPr lang="hu-HU" sz="1600" dirty="0" smtClean="0"/>
              <a:t>arcdetektálás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600" dirty="0" err="1" smtClean="0"/>
              <a:t>Haar</a:t>
            </a:r>
            <a:r>
              <a:rPr lang="hu-HU" sz="1600" dirty="0" smtClean="0"/>
              <a:t> </a:t>
            </a:r>
            <a:r>
              <a:rPr lang="hu-HU" sz="1600" dirty="0" err="1" smtClean="0"/>
              <a:t>Cascade</a:t>
            </a:r>
            <a:endParaRPr lang="hu-HU" sz="16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600" dirty="0" smtClean="0"/>
              <a:t>Modern</a:t>
            </a:r>
            <a:r>
              <a:rPr lang="hu-HU" sz="1600" dirty="0"/>
              <a:t>, neurális háló alapú </a:t>
            </a:r>
            <a:r>
              <a:rPr lang="hu-HU" sz="1600" dirty="0" smtClean="0"/>
              <a:t>megoldások(</a:t>
            </a:r>
            <a:r>
              <a:rPr lang="hu-HU" sz="1600" dirty="0" err="1" smtClean="0"/>
              <a:t>Caffe</a:t>
            </a:r>
            <a:r>
              <a:rPr lang="hu-HU" sz="1600" dirty="0" smtClean="0"/>
              <a:t> </a:t>
            </a:r>
            <a:r>
              <a:rPr lang="hu-HU" sz="1600" dirty="0"/>
              <a:t>és a </a:t>
            </a:r>
            <a:r>
              <a:rPr lang="hu-HU" sz="1600" dirty="0" err="1" smtClean="0"/>
              <a:t>YuNet</a:t>
            </a:r>
            <a:r>
              <a:rPr lang="hu-HU" sz="1600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 smtClean="0"/>
              <a:t>Ezt </a:t>
            </a:r>
            <a:r>
              <a:rPr lang="hu-HU" sz="1600" dirty="0"/>
              <a:t>ne parancssorból kelljen futtatni, hanem egy felhasználóbarát grafikus felületen keresztül lehessen vezérelni és összehasonlítani az </a:t>
            </a:r>
            <a:r>
              <a:rPr lang="hu-HU" sz="1600" dirty="0" smtClean="0"/>
              <a:t>eredményeket</a:t>
            </a:r>
            <a:endParaRPr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Feladat és eszközök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8337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31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75" y="1212525"/>
            <a:ext cx="2947200" cy="2803663"/>
          </a:xfrm>
          <a:prstGeom prst="rect">
            <a:avLst/>
          </a:prstGeom>
        </p:spPr>
      </p:pic>
      <p:sp>
        <p:nvSpPr>
          <p:cNvPr id="250" name="Google Shape;250;p31"/>
          <p:cNvSpPr txBox="1">
            <a:spLocks noGrp="1"/>
          </p:cNvSpPr>
          <p:nvPr>
            <p:ph type="title"/>
          </p:nvPr>
        </p:nvSpPr>
        <p:spPr>
          <a:xfrm>
            <a:off x="3789425" y="795800"/>
            <a:ext cx="4547700" cy="12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u-HU" dirty="0"/>
              <a:t>Megközelítés – </a:t>
            </a:r>
            <a:r>
              <a:rPr lang="hu-HU" dirty="0" err="1"/>
              <a:t>Haar</a:t>
            </a:r>
            <a:r>
              <a:rPr lang="hu-HU" dirty="0"/>
              <a:t> </a:t>
            </a:r>
            <a:r>
              <a:rPr lang="hu-HU" dirty="0" err="1"/>
              <a:t>Cascade</a:t>
            </a:r>
            <a:endParaRPr dirty="0"/>
          </a:p>
        </p:txBody>
      </p:sp>
      <p:sp>
        <p:nvSpPr>
          <p:cNvPr id="251" name="Google Shape;251;p31"/>
          <p:cNvSpPr txBox="1">
            <a:spLocks noGrp="1"/>
          </p:cNvSpPr>
          <p:nvPr>
            <p:ph type="body" idx="1"/>
          </p:nvPr>
        </p:nvSpPr>
        <p:spPr>
          <a:xfrm>
            <a:off x="3789425" y="2229300"/>
            <a:ext cx="4940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endParaRPr dirty="0"/>
          </a:p>
        </p:txBody>
      </p:sp>
      <p:grpSp>
        <p:nvGrpSpPr>
          <p:cNvPr id="252" name="Google Shape;252;p31"/>
          <p:cNvGrpSpPr/>
          <p:nvPr/>
        </p:nvGrpSpPr>
        <p:grpSpPr>
          <a:xfrm>
            <a:off x="511225" y="947025"/>
            <a:ext cx="2971350" cy="265500"/>
            <a:chOff x="511225" y="947025"/>
            <a:chExt cx="2971350" cy="265500"/>
          </a:xfrm>
        </p:grpSpPr>
        <p:pic>
          <p:nvPicPr>
            <p:cNvPr id="253" name="Google Shape;253;p31" title="Sin título-2.png"/>
            <p:cNvPicPr preferRelativeResize="0"/>
            <p:nvPr/>
          </p:nvPicPr>
          <p:blipFill rotWithShape="1">
            <a:blip r:embed="rId4">
              <a:alphaModFix/>
            </a:blip>
            <a:srcRect l="60127"/>
            <a:stretch/>
          </p:blipFill>
          <p:spPr>
            <a:xfrm>
              <a:off x="51277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31" title="Sin título-2.png"/>
            <p:cNvPicPr preferRelativeResize="0"/>
            <p:nvPr/>
          </p:nvPicPr>
          <p:blipFill rotWithShape="1">
            <a:blip r:embed="rId4">
              <a:alphaModFix/>
            </a:blip>
            <a:srcRect l="60127"/>
            <a:stretch/>
          </p:blipFill>
          <p:spPr>
            <a:xfrm>
              <a:off x="51122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31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25" y="1212525"/>
            <a:ext cx="2947200" cy="2794699"/>
          </a:xfrm>
          <a:prstGeom prst="rect">
            <a:avLst/>
          </a:prstGeom>
        </p:spPr>
      </p:pic>
      <p:sp>
        <p:nvSpPr>
          <p:cNvPr id="250" name="Google Shape;250;p31"/>
          <p:cNvSpPr txBox="1">
            <a:spLocks noGrp="1"/>
          </p:cNvSpPr>
          <p:nvPr>
            <p:ph type="title"/>
          </p:nvPr>
        </p:nvSpPr>
        <p:spPr>
          <a:xfrm>
            <a:off x="3789425" y="795800"/>
            <a:ext cx="4547700" cy="12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u-HU" dirty="0"/>
              <a:t>Megközelítés – DNN</a:t>
            </a:r>
            <a:endParaRPr dirty="0"/>
          </a:p>
        </p:txBody>
      </p:sp>
      <p:sp>
        <p:nvSpPr>
          <p:cNvPr id="251" name="Google Shape;251;p31"/>
          <p:cNvSpPr txBox="1">
            <a:spLocks noGrp="1"/>
          </p:cNvSpPr>
          <p:nvPr>
            <p:ph type="body" idx="1"/>
          </p:nvPr>
        </p:nvSpPr>
        <p:spPr>
          <a:xfrm>
            <a:off x="3789425" y="1599564"/>
            <a:ext cx="4940100" cy="27662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A modern arcfelismerés már neurális hálókat használ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 err="1"/>
              <a:t>Caffe</a:t>
            </a:r>
            <a:r>
              <a:rPr lang="hu-HU" dirty="0"/>
              <a:t> alapú DNN modell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SSD (</a:t>
            </a:r>
            <a:r>
              <a:rPr lang="hu-HU" dirty="0" err="1"/>
              <a:t>Single</a:t>
            </a:r>
            <a:r>
              <a:rPr lang="hu-HU" dirty="0"/>
              <a:t> </a:t>
            </a:r>
            <a:r>
              <a:rPr lang="hu-HU" dirty="0" err="1"/>
              <a:t>Shot</a:t>
            </a:r>
            <a:r>
              <a:rPr lang="hu-HU" dirty="0"/>
              <a:t> </a:t>
            </a:r>
            <a:r>
              <a:rPr lang="hu-HU" dirty="0" err="1"/>
              <a:t>Detector</a:t>
            </a:r>
            <a:r>
              <a:rPr lang="hu-HU" dirty="0"/>
              <a:t>) architektúrát használ, ResNet-10 alapon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Színes képeken dolgozik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Pixel-szintű mintázatok helyett komplexebb vonásokat keres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Sokkal stabilabb változó fényviszonyok között is</a:t>
            </a:r>
            <a:endParaRPr lang="hu-HU" dirty="0"/>
          </a:p>
        </p:txBody>
      </p:sp>
      <p:grpSp>
        <p:nvGrpSpPr>
          <p:cNvPr id="252" name="Google Shape;252;p31"/>
          <p:cNvGrpSpPr/>
          <p:nvPr/>
        </p:nvGrpSpPr>
        <p:grpSpPr>
          <a:xfrm>
            <a:off x="511225" y="947025"/>
            <a:ext cx="2971350" cy="265500"/>
            <a:chOff x="511225" y="947025"/>
            <a:chExt cx="2971350" cy="265500"/>
          </a:xfrm>
        </p:grpSpPr>
        <p:pic>
          <p:nvPicPr>
            <p:cNvPr id="253" name="Google Shape;253;p31" title="Sin título-2.png"/>
            <p:cNvPicPr preferRelativeResize="0"/>
            <p:nvPr/>
          </p:nvPicPr>
          <p:blipFill rotWithShape="1">
            <a:blip r:embed="rId4">
              <a:alphaModFix/>
            </a:blip>
            <a:srcRect l="60127"/>
            <a:stretch/>
          </p:blipFill>
          <p:spPr>
            <a:xfrm>
              <a:off x="51277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31" title="Sin título-2.png"/>
            <p:cNvPicPr preferRelativeResize="0"/>
            <p:nvPr/>
          </p:nvPicPr>
          <p:blipFill rotWithShape="1">
            <a:blip r:embed="rId4">
              <a:alphaModFix/>
            </a:blip>
            <a:srcRect l="60127"/>
            <a:stretch/>
          </p:blipFill>
          <p:spPr>
            <a:xfrm>
              <a:off x="51122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17110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31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25" y="1212525"/>
            <a:ext cx="2947200" cy="2919639"/>
          </a:xfrm>
          <a:prstGeom prst="rect">
            <a:avLst/>
          </a:prstGeom>
        </p:spPr>
      </p:pic>
      <p:sp>
        <p:nvSpPr>
          <p:cNvPr id="250" name="Google Shape;250;p31"/>
          <p:cNvSpPr txBox="1">
            <a:spLocks noGrp="1"/>
          </p:cNvSpPr>
          <p:nvPr>
            <p:ph type="title"/>
          </p:nvPr>
        </p:nvSpPr>
        <p:spPr>
          <a:xfrm>
            <a:off x="3789425" y="795800"/>
            <a:ext cx="4547700" cy="12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u-HU" dirty="0"/>
              <a:t>Megközelítés - </a:t>
            </a:r>
            <a:r>
              <a:rPr lang="hu-HU" dirty="0" err="1"/>
              <a:t>YuNet</a:t>
            </a:r>
            <a:endParaRPr dirty="0"/>
          </a:p>
        </p:txBody>
      </p:sp>
      <p:sp>
        <p:nvSpPr>
          <p:cNvPr id="251" name="Google Shape;251;p31"/>
          <p:cNvSpPr txBox="1">
            <a:spLocks noGrp="1"/>
          </p:cNvSpPr>
          <p:nvPr>
            <p:ph type="body" idx="1"/>
          </p:nvPr>
        </p:nvSpPr>
        <p:spPr>
          <a:xfrm>
            <a:off x="3789425" y="1599564"/>
            <a:ext cx="4940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Legmodernebb megoldás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 err="1"/>
              <a:t>OpenCV</a:t>
            </a:r>
            <a:r>
              <a:rPr lang="hu-HU" dirty="0"/>
              <a:t> </a:t>
            </a:r>
            <a:r>
              <a:rPr lang="hu-HU" dirty="0" err="1"/>
              <a:t>Zoo-ból</a:t>
            </a:r>
            <a:r>
              <a:rPr lang="hu-HU" dirty="0"/>
              <a:t> integrált, .</a:t>
            </a:r>
            <a:r>
              <a:rPr lang="hu-HU" dirty="0" err="1"/>
              <a:t>onnx</a:t>
            </a:r>
            <a:r>
              <a:rPr lang="hu-HU" dirty="0"/>
              <a:t> formátumban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Rendkívül kicsi és gyors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Képes megtalálni azokat az arcokat is, amik profilból látszanak, vagy részben takarásban vannak(ahol a klasszikus algoritmusok kudarcot vallanak)</a:t>
            </a:r>
            <a:endParaRPr lang="hu-HU" dirty="0"/>
          </a:p>
        </p:txBody>
      </p:sp>
      <p:grpSp>
        <p:nvGrpSpPr>
          <p:cNvPr id="252" name="Google Shape;252;p31"/>
          <p:cNvGrpSpPr/>
          <p:nvPr/>
        </p:nvGrpSpPr>
        <p:grpSpPr>
          <a:xfrm>
            <a:off x="511225" y="947025"/>
            <a:ext cx="2971350" cy="265500"/>
            <a:chOff x="511225" y="947025"/>
            <a:chExt cx="2971350" cy="265500"/>
          </a:xfrm>
        </p:grpSpPr>
        <p:pic>
          <p:nvPicPr>
            <p:cNvPr id="253" name="Google Shape;253;p31" title="Sin título-2.png"/>
            <p:cNvPicPr preferRelativeResize="0"/>
            <p:nvPr/>
          </p:nvPicPr>
          <p:blipFill rotWithShape="1">
            <a:blip r:embed="rId4">
              <a:alphaModFix/>
            </a:blip>
            <a:srcRect l="60127"/>
            <a:stretch/>
          </p:blipFill>
          <p:spPr>
            <a:xfrm>
              <a:off x="51277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31" title="Sin título-2.png"/>
            <p:cNvPicPr preferRelativeResize="0"/>
            <p:nvPr/>
          </p:nvPicPr>
          <p:blipFill rotWithShape="1">
            <a:blip r:embed="rId4">
              <a:alphaModFix/>
            </a:blip>
            <a:srcRect l="60127"/>
            <a:stretch/>
          </p:blipFill>
          <p:spPr>
            <a:xfrm>
              <a:off x="51122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088665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Megközelítés – Saját megoldás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3385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79225" y="705025"/>
            <a:ext cx="7866600" cy="698400"/>
          </a:xfrm>
        </p:spPr>
        <p:txBody>
          <a:bodyPr/>
          <a:lstStyle/>
          <a:p>
            <a:r>
              <a:rPr lang="hu-HU" dirty="0" smtClean="0"/>
              <a:t>GUI</a:t>
            </a:r>
            <a:endParaRPr lang="hu-HU" dirty="0"/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383" y="1403425"/>
            <a:ext cx="3738283" cy="334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27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Eredmények, összehasonlítás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8463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1"/>
          <p:cNvSpPr txBox="1">
            <a:spLocks noGrp="1"/>
          </p:cNvSpPr>
          <p:nvPr>
            <p:ph type="title"/>
          </p:nvPr>
        </p:nvSpPr>
        <p:spPr>
          <a:xfrm>
            <a:off x="669774" y="1143000"/>
            <a:ext cx="4823299" cy="5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 smtClean="0"/>
              <a:t>Köszönjük a figyelmet!</a:t>
            </a:r>
            <a:endParaRPr sz="4000" dirty="0"/>
          </a:p>
        </p:txBody>
      </p:sp>
      <p:sp>
        <p:nvSpPr>
          <p:cNvPr id="373" name="Google Shape;373;p41"/>
          <p:cNvSpPr txBox="1">
            <a:spLocks noGrp="1"/>
          </p:cNvSpPr>
          <p:nvPr>
            <p:ph type="subTitle" idx="1"/>
          </p:nvPr>
        </p:nvSpPr>
        <p:spPr>
          <a:xfrm>
            <a:off x="669775" y="1850750"/>
            <a:ext cx="3683400" cy="9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smtClean="0"/>
              <a:t>Kérdések</a:t>
            </a:r>
            <a:r>
              <a:rPr lang="en" dirty="0" smtClean="0"/>
              <a:t>?</a:t>
            </a:r>
            <a:endParaRPr dirty="0"/>
          </a:p>
        </p:txBody>
      </p:sp>
      <p:sp>
        <p:nvSpPr>
          <p:cNvPr id="390" name="Google Shape;390;p41"/>
          <p:cNvSpPr txBox="1"/>
          <p:nvPr/>
        </p:nvSpPr>
        <p:spPr>
          <a:xfrm>
            <a:off x="341850" y="205291"/>
            <a:ext cx="6139632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hu-HU" sz="1600" dirty="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  <a:t>Bakos Rózsa Ajándék, Kálmán Előd </a:t>
            </a:r>
            <a:r>
              <a:rPr lang="hu-HU" sz="1600" dirty="0" err="1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  <a:t>Arto</a:t>
            </a:r>
            <a:r>
              <a:rPr lang="hu-HU" sz="1600" dirty="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  <a:t>, Németh Bence Máté, Nyerges Bálint</a:t>
            </a:r>
            <a:endParaRPr lang="hu-HU" sz="1600" dirty="0">
              <a:solidFill>
                <a:schemeClr val="dk1"/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91919"/>
      </a:dk1>
      <a:lt1>
        <a:srgbClr val="EFEFEF"/>
      </a:lt1>
      <a:dk2>
        <a:srgbClr val="707070"/>
      </a:dk2>
      <a:lt2>
        <a:srgbClr val="C1C1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166</Words>
  <Application>Microsoft Office PowerPoint</Application>
  <PresentationFormat>Diavetítés a képernyőre (16:9 oldalarány)</PresentationFormat>
  <Paragraphs>27</Paragraphs>
  <Slides>10</Slides>
  <Notes>6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5" baseType="lpstr">
      <vt:lpstr>VT323</vt:lpstr>
      <vt:lpstr>Darker Grotesque SemiBold</vt:lpstr>
      <vt:lpstr>Arial</vt:lpstr>
      <vt:lpstr>Roboto Mono</vt:lpstr>
      <vt:lpstr>My Presentation Template</vt:lpstr>
      <vt:lpstr>Arcdetektálás</vt:lpstr>
      <vt:lpstr>Projekt Célja</vt:lpstr>
      <vt:lpstr>Feladat és eszközök</vt:lpstr>
      <vt:lpstr>Megközelítés – Haar Cascade</vt:lpstr>
      <vt:lpstr>Megközelítés – DNN</vt:lpstr>
      <vt:lpstr>Megközelítés - YuNet</vt:lpstr>
      <vt:lpstr>Megközelítés – Saját megoldás</vt:lpstr>
      <vt:lpstr>GUI</vt:lpstr>
      <vt:lpstr>Eredmények, összehasonlítás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Arcdetektálás</dc:title>
  <cp:lastModifiedBy>User</cp:lastModifiedBy>
  <cp:revision>5</cp:revision>
  <dcterms:modified xsi:type="dcterms:W3CDTF">2025-11-29T20:39:56Z</dcterms:modified>
</cp:coreProperties>
</file>