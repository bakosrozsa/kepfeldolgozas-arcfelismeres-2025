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embeddedFontLst>
    <p:embeddedFont>
      <p:font typeface="Roboto Mono" panose="00000009000000000000" pitchFamily="49" charset="0"/>
      <p:regular r:id="rId14"/>
      <p:bold r:id="rId15"/>
      <p:italic r:id="rId16"/>
      <p:boldItalic r:id="rId17"/>
    </p:embeddedFont>
    <p:embeddedFont>
      <p:font typeface="VT323" panose="020B0604020202020204" charset="0"/>
      <p:regular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idvaqHSCGY2xx/2se+om9oRLs40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A720AF-26CB-DD14-7DC2-496CE2FD46D3}" v="27" dt="2025-11-30T14:45:01.519"/>
  </p1510:revLst>
</p1510:revInfo>
</file>

<file path=ppt/tableStyles.xml><?xml version="1.0" encoding="utf-8"?>
<a:tblStyleLst xmlns:a="http://schemas.openxmlformats.org/drawingml/2006/main" def="{C2F0EE53-DDDD-4665-9FFD-D7E5BF6FAD8F}">
  <a:tblStyle styleId="{C2F0EE53-DDDD-4665-9FFD-D7E5BF6FAD8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customschemas.google.com/relationships/presentationmetadata" Target="meta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őd Kálmán" userId="919d0f6f46e042c3" providerId="Windows Live" clId="Web-{2DA720AF-26CB-DD14-7DC2-496CE2FD46D3}"/>
    <pc:docChg chg="modSld">
      <pc:chgData name="Előd Kálmán" userId="919d0f6f46e042c3" providerId="Windows Live" clId="Web-{2DA720AF-26CB-DD14-7DC2-496CE2FD46D3}" dt="2025-11-30T14:45:01.519" v="22" actId="20577"/>
      <pc:docMkLst>
        <pc:docMk/>
      </pc:docMkLst>
      <pc:sldChg chg="modSp">
        <pc:chgData name="Előd Kálmán" userId="919d0f6f46e042c3" providerId="Windows Live" clId="Web-{2DA720AF-26CB-DD14-7DC2-496CE2FD46D3}" dt="2025-11-30T14:45:01.519" v="22" actId="20577"/>
        <pc:sldMkLst>
          <pc:docMk/>
          <pc:sldMk cId="0" sldId="259"/>
        </pc:sldMkLst>
        <pc:spChg chg="mod">
          <ac:chgData name="Előd Kálmán" userId="919d0f6f46e042c3" providerId="Windows Live" clId="Web-{2DA720AF-26CB-DD14-7DC2-496CE2FD46D3}" dt="2025-11-30T14:45:01.519" v="22" actId="20577"/>
          <ac:spMkLst>
            <pc:docMk/>
            <pc:sldMk cId="0" sldId="259"/>
            <ac:spMk id="10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ab975baed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ab975baed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bit.ly/2TtBDfr" TargetMode="External"/><Relationship Id="rId5" Type="http://schemas.openxmlformats.org/officeDocument/2006/relationships/hyperlink" Target="https://bit.ly/3A1uf1Q" TargetMode="Externa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1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0" name="Google Shape;10;p12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12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2;p12"/>
          <p:cNvSpPr>
            <a:spLocks noGrp="1"/>
          </p:cNvSpPr>
          <p:nvPr>
            <p:ph type="pic" idx="2"/>
          </p:nvPr>
        </p:nvSpPr>
        <p:spPr>
          <a:xfrm>
            <a:off x="5805375" y="1317075"/>
            <a:ext cx="2831700" cy="26481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2"/>
          <p:cNvSpPr txBox="1">
            <a:spLocks noGrp="1"/>
          </p:cNvSpPr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ubTitle" idx="1"/>
          </p:nvPr>
        </p:nvSpPr>
        <p:spPr>
          <a:xfrm>
            <a:off x="606800" y="3364900"/>
            <a:ext cx="4351500" cy="11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15" name="Google Shape;15;p12" title="Sin título-2.png"/>
          <p:cNvPicPr preferRelativeResize="0"/>
          <p:nvPr/>
        </p:nvPicPr>
        <p:blipFill rotWithShape="1">
          <a:blip r:embed="rId3">
            <a:alphaModFix/>
          </a:blip>
          <a:srcRect l="61982"/>
          <a:stretch/>
        </p:blipFill>
        <p:spPr>
          <a:xfrm>
            <a:off x="5805376" y="1051575"/>
            <a:ext cx="2831677" cy="2655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3" title="Sin título-7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ubTitle" idx="1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0" name="Google Shape;20;p13" title="Sin título-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14" title="Sin título-7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14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body" idx="1"/>
          </p:nvPr>
        </p:nvSpPr>
        <p:spPr>
          <a:xfrm>
            <a:off x="3789425" y="2229300"/>
            <a:ext cx="4940100" cy="25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>
            <a:spLocks noGrp="1"/>
          </p:cNvSpPr>
          <p:nvPr>
            <p:ph type="pic" idx="2"/>
          </p:nvPr>
        </p:nvSpPr>
        <p:spPr>
          <a:xfrm>
            <a:off x="522525" y="1195150"/>
            <a:ext cx="2947200" cy="33414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26" name="Google Shape;26;p14" title="Sin título-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oogle Shape;28;p15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29" name="Google Shape;29;p15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15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Google Shape;31;p15"/>
          <p:cNvSpPr txBox="1">
            <a:spLocks noGrp="1"/>
          </p:cNvSpPr>
          <p:nvPr>
            <p:ph type="title"/>
          </p:nvPr>
        </p:nvSpPr>
        <p:spPr>
          <a:xfrm>
            <a:off x="669775" y="1143000"/>
            <a:ext cx="3852300" cy="5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32" name="Google Shape;32;p15"/>
          <p:cNvSpPr txBox="1">
            <a:spLocks noGrp="1"/>
          </p:cNvSpPr>
          <p:nvPr>
            <p:ph type="subTitle" idx="1"/>
          </p:nvPr>
        </p:nvSpPr>
        <p:spPr>
          <a:xfrm>
            <a:off x="669775" y="1850750"/>
            <a:ext cx="3683400" cy="9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3" name="Google Shape;33;p15" title="Sin título-9.png"/>
          <p:cNvPicPr preferRelativeResize="0"/>
          <p:nvPr/>
        </p:nvPicPr>
        <p:blipFill rotWithShape="1">
          <a:blip r:embed="rId4">
            <a:alphaModFix/>
          </a:blip>
          <a:srcRect l="19762" t="14675" r="19445" b="47106"/>
          <a:stretch/>
        </p:blipFill>
        <p:spPr>
          <a:xfrm>
            <a:off x="4549250" y="1778300"/>
            <a:ext cx="3953100" cy="2485174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5"/>
          <p:cNvSpPr txBox="1"/>
          <p:nvPr/>
        </p:nvSpPr>
        <p:spPr>
          <a:xfrm>
            <a:off x="4865450" y="2464525"/>
            <a:ext cx="33207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hu-HU" sz="1000" b="1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CREDITS:</a:t>
            </a:r>
            <a:r>
              <a:rPr lang="hu-HU" sz="10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This presentation template was created by </a:t>
            </a:r>
            <a:r>
              <a:rPr lang="hu-HU" sz="1000" b="1" i="0" u="none" strike="noStrike" cap="none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hu-HU" sz="10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, and includes icons, infographics &amp; images by </a:t>
            </a:r>
            <a:r>
              <a:rPr lang="hu-HU" sz="1000" b="1" i="0" u="none" strike="noStrike" cap="none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hu-HU" sz="10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endParaRPr sz="1000" b="1" i="0" u="sng" strike="noStrike" cap="none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oogle Shape;36;p16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37" name="Google Shape;37;p16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Google Shape;38;p16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" name="Google Shape;39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1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3" name="Google Shape;43;p17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4" name="Google Shape;44;p17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" name="Google Shape;45;p1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18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0" name="Google Shape;50;p18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51;p18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2" name="Google Shape;52;p1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19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5" name="Google Shape;55;p19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56;p19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7" name="Google Shape;57;p1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oogle Shape;61;p20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2" name="Google Shape;62;p20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63;p20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4" name="Google Shape;64;p20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5" name="Google Shape;65;p20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2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oogle Shape;68;p2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9" name="Google Shape;69;p22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" name="Google Shape;70;p22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23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74" name="Google Shape;74;p23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75;p23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9pPr>
          </a:lstStyle>
          <a:p>
            <a:endParaRPr/>
          </a:p>
        </p:txBody>
      </p:sp>
      <p:sp>
        <p:nvSpPr>
          <p:cNvPr id="7" name="Google Shape;7;p1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5805375" y="1326777"/>
            <a:ext cx="2831677" cy="2250142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2" name="Google Shape;82;p1"/>
          <p:cNvSpPr txBox="1">
            <a:spLocks noGrp="1"/>
          </p:cNvSpPr>
          <p:nvPr>
            <p:ph type="ctrTitle"/>
          </p:nvPr>
        </p:nvSpPr>
        <p:spPr>
          <a:xfrm>
            <a:off x="435853" y="2290528"/>
            <a:ext cx="5060700" cy="701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hu-HU"/>
              <a:t>Arcdetektálás</a:t>
            </a:r>
            <a:endParaRPr/>
          </a:p>
        </p:txBody>
      </p:sp>
      <p:sp>
        <p:nvSpPr>
          <p:cNvPr id="83" name="Google Shape;83;p1"/>
          <p:cNvSpPr txBox="1"/>
          <p:nvPr/>
        </p:nvSpPr>
        <p:spPr>
          <a:xfrm>
            <a:off x="435853" y="205291"/>
            <a:ext cx="6278711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hu-HU" sz="16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Bakos Rózsa Ajándék, Kálmán Előd Arto, Németh Bence Máté, Nyerges Bálint</a:t>
            </a:r>
            <a:endParaRPr sz="1600" b="0" i="0" u="none" strike="noStrike" cap="none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hu-HU"/>
              <a:t>Projekt Célja</a:t>
            </a:r>
            <a:endParaRPr/>
          </a:p>
        </p:txBody>
      </p:sp>
      <p:sp>
        <p:nvSpPr>
          <p:cNvPr id="89" name="Google Shape;89;p2"/>
          <p:cNvSpPr txBox="1">
            <a:spLocks noGrp="1"/>
          </p:cNvSpPr>
          <p:nvPr>
            <p:ph type="subTitle" idx="1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 sz="1600"/>
              <a:t>Átfogóan megvizsgáljuk, hogyan fejlődött az arcdetektálás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 sz="1600"/>
              <a:t>Haar Cascade</a:t>
            </a:r>
            <a:endParaRPr sz="1600"/>
          </a:p>
          <a:p>
            <a:pPr marL="742950" lvl="1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 sz="1600"/>
              <a:t>Modern, neurális háló alapú megoldások(Caffe és a YuNet)</a:t>
            </a:r>
            <a:endParaRPr/>
          </a:p>
          <a:p>
            <a:pPr marL="28575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 sz="1600"/>
              <a:t>Ezt ne parancssorból kelljen futtatni, hanem egy felhasználóbarát grafikus felületen keresztül lehessen vezérelni és összehasonlítani az eredményeket</a:t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hu-HU"/>
              <a:t>Feladat és eszközök</a:t>
            </a:r>
            <a:endParaRPr/>
          </a:p>
        </p:txBody>
      </p:sp>
      <p:sp>
        <p:nvSpPr>
          <p:cNvPr id="95" name="Google Shape;95;p3"/>
          <p:cNvSpPr txBox="1">
            <a:spLocks noGrp="1"/>
          </p:cNvSpPr>
          <p:nvPr>
            <p:ph type="subTitle" idx="1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4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509675" y="1212525"/>
            <a:ext cx="2947200" cy="2803663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1" name="Google Shape;101;p4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hu-HU"/>
              <a:t>Megközelítés – Haar Cascade</a:t>
            </a:r>
            <a:endParaRPr/>
          </a:p>
        </p:txBody>
      </p:sp>
      <p:sp>
        <p:nvSpPr>
          <p:cNvPr id="102" name="Google Shape;102;p4"/>
          <p:cNvSpPr txBox="1">
            <a:spLocks noGrp="1"/>
          </p:cNvSpPr>
          <p:nvPr>
            <p:ph type="body" idx="1"/>
          </p:nvPr>
        </p:nvSpPr>
        <p:spPr>
          <a:xfrm>
            <a:off x="3789425" y="1716249"/>
            <a:ext cx="4940100" cy="25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/>
              <a:t>Sok </a:t>
            </a:r>
            <a:r>
              <a:rPr lang="en-US" err="1"/>
              <a:t>kicsi</a:t>
            </a:r>
            <a:r>
              <a:rPr lang="en-US" dirty="0"/>
              <a:t>, </a:t>
            </a:r>
            <a:r>
              <a:rPr lang="en-US" err="1"/>
              <a:t>gyorsan</a:t>
            </a:r>
            <a:r>
              <a:rPr lang="en-US" dirty="0"/>
              <a:t> </a:t>
            </a:r>
            <a:r>
              <a:rPr lang="en-US" err="1"/>
              <a:t>számolható</a:t>
            </a:r>
            <a:r>
              <a:rPr lang="en-US" dirty="0"/>
              <a:t> Haar-</a:t>
            </a:r>
            <a:r>
              <a:rPr lang="en-US" err="1"/>
              <a:t>jellemzőt</a:t>
            </a:r>
            <a:r>
              <a:rPr lang="en-US" dirty="0"/>
              <a:t> (Haar features) </a:t>
            </a:r>
            <a:r>
              <a:rPr lang="en-US" err="1"/>
              <a:t>használ</a:t>
            </a:r>
            <a:r>
              <a:rPr lang="en-US" dirty="0"/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dirty="0"/>
              <a:t>Kis </a:t>
            </a:r>
            <a:r>
              <a:rPr lang="en-US" err="1"/>
              <a:t>fekete-fehér</a:t>
            </a:r>
            <a:r>
              <a:rPr lang="en-US" dirty="0"/>
              <a:t> </a:t>
            </a:r>
            <a:r>
              <a:rPr lang="en-US" err="1"/>
              <a:t>téglalapmintákat</a:t>
            </a:r>
            <a:r>
              <a:rPr lang="en-US" dirty="0"/>
              <a:t> </a:t>
            </a:r>
            <a:r>
              <a:rPr lang="en-US" err="1"/>
              <a:t>csúsztat</a:t>
            </a:r>
            <a:r>
              <a:rPr lang="en-US" dirty="0"/>
              <a:t> a </a:t>
            </a:r>
            <a:r>
              <a:rPr lang="en-US" err="1"/>
              <a:t>képen</a:t>
            </a:r>
            <a:r>
              <a:rPr lang="en-US" dirty="0"/>
              <a:t>, </a:t>
            </a:r>
            <a:r>
              <a:rPr lang="en-US" err="1"/>
              <a:t>és</a:t>
            </a:r>
            <a:r>
              <a:rPr lang="en-US" dirty="0"/>
              <a:t> </a:t>
            </a:r>
            <a:r>
              <a:rPr lang="en-US" err="1"/>
              <a:t>megnézi</a:t>
            </a:r>
            <a:r>
              <a:rPr lang="en-US" dirty="0"/>
              <a:t>, </a:t>
            </a:r>
            <a:r>
              <a:rPr lang="en-US" err="1"/>
              <a:t>hogy</a:t>
            </a:r>
            <a:r>
              <a:rPr lang="en-US" dirty="0"/>
              <a:t> a </a:t>
            </a:r>
            <a:r>
              <a:rPr lang="en-US" err="1"/>
              <a:t>világos</a:t>
            </a:r>
            <a:r>
              <a:rPr lang="en-US" dirty="0"/>
              <a:t>–</a:t>
            </a:r>
            <a:r>
              <a:rPr lang="en-US" err="1"/>
              <a:t>sötét</a:t>
            </a:r>
            <a:r>
              <a:rPr lang="en-US" dirty="0"/>
              <a:t> </a:t>
            </a:r>
            <a:r>
              <a:rPr lang="en-US" err="1"/>
              <a:t>mintázat</a:t>
            </a:r>
            <a:r>
              <a:rPr lang="en-US" dirty="0"/>
              <a:t> </a:t>
            </a:r>
            <a:r>
              <a:rPr lang="en-US" err="1"/>
              <a:t>mennyire</a:t>
            </a:r>
            <a:r>
              <a:rPr lang="en-US" dirty="0"/>
              <a:t> </a:t>
            </a:r>
            <a:r>
              <a:rPr lang="en-US" err="1"/>
              <a:t>hasonlít</a:t>
            </a:r>
            <a:r>
              <a:rPr lang="en-US" dirty="0"/>
              <a:t> a </a:t>
            </a:r>
            <a:r>
              <a:rPr lang="en-US" err="1"/>
              <a:t>tanult</a:t>
            </a:r>
            <a:r>
              <a:rPr lang="en-US" dirty="0"/>
              <a:t> </a:t>
            </a:r>
            <a:r>
              <a:rPr lang="en-US" err="1"/>
              <a:t>objektumhoz</a:t>
            </a:r>
            <a:r>
              <a:rPr lang="en-US" dirty="0"/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err="1"/>
              <a:t>Szürkeárnyalatos</a:t>
            </a:r>
            <a:r>
              <a:rPr lang="en-US" dirty="0"/>
              <a:t> </a:t>
            </a:r>
            <a:r>
              <a:rPr lang="en-US" err="1"/>
              <a:t>képeken</a:t>
            </a:r>
            <a:r>
              <a:rPr lang="en-US" dirty="0"/>
              <a:t> </a:t>
            </a:r>
            <a:r>
              <a:rPr lang="en-US" err="1"/>
              <a:t>dolgozik</a:t>
            </a:r>
            <a:r>
              <a:rPr lang="en-US" dirty="0"/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dirty="0" err="1"/>
              <a:t>Gyors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egyszerű</a:t>
            </a:r>
            <a:r>
              <a:rPr lang="en-US" dirty="0"/>
              <a:t> </a:t>
            </a:r>
            <a:r>
              <a:rPr lang="en-US" dirty="0" err="1"/>
              <a:t>felismerő</a:t>
            </a:r>
            <a:r>
              <a:rPr lang="en-US" dirty="0"/>
              <a:t>, de ma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jobb</a:t>
            </a:r>
            <a:r>
              <a:rPr lang="en-US" dirty="0"/>
              <a:t>, </a:t>
            </a:r>
            <a:r>
              <a:rPr lang="en-US" dirty="0" err="1"/>
              <a:t>modernebb</a:t>
            </a:r>
            <a:r>
              <a:rPr lang="en-US" dirty="0"/>
              <a:t> </a:t>
            </a:r>
            <a:r>
              <a:rPr lang="en-US" dirty="0" err="1"/>
              <a:t>módszerek</a:t>
            </a:r>
            <a:r>
              <a:rPr lang="en-US" dirty="0"/>
              <a:t> is </a:t>
            </a:r>
            <a:r>
              <a:rPr lang="en-US" dirty="0" err="1"/>
              <a:t>léteznek</a:t>
            </a:r>
            <a:r>
              <a:rPr lang="en-US" dirty="0"/>
              <a:t>.</a:t>
            </a:r>
            <a:endParaRPr dirty="0"/>
          </a:p>
        </p:txBody>
      </p:sp>
      <p:grpSp>
        <p:nvGrpSpPr>
          <p:cNvPr id="103" name="Google Shape;103;p4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104" name="Google Shape;104;p4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" name="Google Shape;105;p4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5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522525" y="1212525"/>
            <a:ext cx="2947200" cy="2794699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1" name="Google Shape;111;p5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hu-HU"/>
              <a:t>Megközelítés – DNN</a:t>
            </a:r>
            <a:endParaRPr/>
          </a:p>
        </p:txBody>
      </p:sp>
      <p:sp>
        <p:nvSpPr>
          <p:cNvPr id="112" name="Google Shape;112;p5"/>
          <p:cNvSpPr txBox="1">
            <a:spLocks noGrp="1"/>
          </p:cNvSpPr>
          <p:nvPr>
            <p:ph type="body" idx="1"/>
          </p:nvPr>
        </p:nvSpPr>
        <p:spPr>
          <a:xfrm>
            <a:off x="3789425" y="1599564"/>
            <a:ext cx="4940100" cy="276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A modern arcfelismerés már neurális hálókat használ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Caffe alapú DNN modell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SSD (Single Shot Detector) architektúrát használ, ResNet-10 alapon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Színes képeken dolgozik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Pixel-szintű mintázatok helyett komplexebb vonásokat keres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Sokkal stabilabb változó fényviszonyok között is</a:t>
            </a:r>
            <a:endParaRPr/>
          </a:p>
        </p:txBody>
      </p:sp>
      <p:grpSp>
        <p:nvGrpSpPr>
          <p:cNvPr id="113" name="Google Shape;113;p5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114" name="Google Shape;114;p5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" name="Google Shape;115;p5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6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522525" y="1212525"/>
            <a:ext cx="2947200" cy="2919639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1" name="Google Shape;121;p6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hu-HU"/>
              <a:t>Megközelítés - YuNet</a:t>
            </a:r>
            <a:endParaRPr/>
          </a:p>
        </p:txBody>
      </p:sp>
      <p:sp>
        <p:nvSpPr>
          <p:cNvPr id="122" name="Google Shape;122;p6"/>
          <p:cNvSpPr txBox="1">
            <a:spLocks noGrp="1"/>
          </p:cNvSpPr>
          <p:nvPr>
            <p:ph type="body" idx="1"/>
          </p:nvPr>
        </p:nvSpPr>
        <p:spPr>
          <a:xfrm>
            <a:off x="3789425" y="1599564"/>
            <a:ext cx="4940100" cy="25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Legmodernebb megoldás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OpenCV Zoo-ból integrált, .onnx formátumban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Rendkívül kicsi és gyors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Képes megtalálni azokat az arcokat is, amik profilból látszanak, vagy részben takarásban vannak(ahol a klasszikus algoritmusok kudarcot vallanak)</a:t>
            </a:r>
            <a:endParaRPr/>
          </a:p>
        </p:txBody>
      </p:sp>
      <p:grpSp>
        <p:nvGrpSpPr>
          <p:cNvPr id="123" name="Google Shape;123;p6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124" name="Google Shape;124;p6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5" name="Google Shape;125;p6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hu-HU"/>
              <a:t>Megközelítés – Saját megoldás</a:t>
            </a:r>
            <a:endParaRPr/>
          </a:p>
        </p:txBody>
      </p:sp>
      <p:sp>
        <p:nvSpPr>
          <p:cNvPr id="131" name="Google Shape;131;p7"/>
          <p:cNvSpPr txBox="1">
            <a:spLocks noGrp="1"/>
          </p:cNvSpPr>
          <p:nvPr>
            <p:ph type="subTitle" idx="1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"/>
          <p:cNvSpPr txBox="1">
            <a:spLocks noGrp="1"/>
          </p:cNvSpPr>
          <p:nvPr>
            <p:ph type="title"/>
          </p:nvPr>
        </p:nvSpPr>
        <p:spPr>
          <a:xfrm>
            <a:off x="679225" y="70502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hu-HU"/>
              <a:t>GUI</a:t>
            </a:r>
            <a:endParaRPr/>
          </a:p>
        </p:txBody>
      </p:sp>
      <p:pic>
        <p:nvPicPr>
          <p:cNvPr id="137" name="Google Shape;137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43383" y="1403425"/>
            <a:ext cx="3738283" cy="3349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b975baed4_0_0"/>
          <p:cNvSpPr txBox="1">
            <a:spLocks noGrp="1"/>
          </p:cNvSpPr>
          <p:nvPr>
            <p:ph type="title"/>
          </p:nvPr>
        </p:nvSpPr>
        <p:spPr>
          <a:xfrm>
            <a:off x="5694050" y="676450"/>
            <a:ext cx="3255900" cy="18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800"/>
              <a:t>Algoritmusok összehasonlítása GUI</a:t>
            </a:r>
            <a:endParaRPr sz="3800"/>
          </a:p>
        </p:txBody>
      </p:sp>
      <p:pic>
        <p:nvPicPr>
          <p:cNvPr id="143" name="Google Shape;143;g3ab975baed4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5975" y="817825"/>
            <a:ext cx="5594550" cy="3872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"/>
          <p:cNvSpPr txBox="1">
            <a:spLocks noGrp="1"/>
          </p:cNvSpPr>
          <p:nvPr>
            <p:ph type="title"/>
          </p:nvPr>
        </p:nvSpPr>
        <p:spPr>
          <a:xfrm>
            <a:off x="192150" y="696150"/>
            <a:ext cx="87597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hu-HU"/>
              <a:t>Eredményeké és összehasonlítás</a:t>
            </a:r>
            <a:endParaRPr/>
          </a:p>
        </p:txBody>
      </p:sp>
      <p:graphicFrame>
        <p:nvGraphicFramePr>
          <p:cNvPr id="149" name="Google Shape;149;p9"/>
          <p:cNvGraphicFramePr/>
          <p:nvPr/>
        </p:nvGraphicFramePr>
        <p:xfrm>
          <a:off x="638700" y="1493075"/>
          <a:ext cx="7866600" cy="3139380"/>
        </p:xfrm>
        <a:graphic>
          <a:graphicData uri="http://schemas.openxmlformats.org/drawingml/2006/table">
            <a:tbl>
              <a:tblPr>
                <a:noFill/>
                <a:tableStyleId>{C2F0EE53-DDDD-4665-9FFD-D7E5BF6FAD8F}</a:tableStyleId>
              </a:tblPr>
              <a:tblGrid>
                <a:gridCol w="393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56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YuNet (A leghatékonyabb):</a:t>
                      </a: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Legpontosabb: 71,34% (Arclétszám) és 88,42% (Bounding Box).</a:t>
                      </a: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Legtöbb találat: 24 461 detektált arc.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DNN (A legmegbízhatóbb):</a:t>
                      </a: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Minimális hiba: Mindössze 26 db téves ("túl sok") detektálás, ami kiemelkedően tiszta működést jelent.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Saját CNN:</a:t>
                      </a: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Magas érzékenység (23 242 találat), de alacsony pontosság (11,59% BBox).</a:t>
                      </a: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Sok a téves riasztás (2359 db "túl sok" hiba), így a modell még finomhangolásra szorul.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Haar Cascade:</a:t>
                      </a: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Elavult technológia, alacsony hatékonysággal (19,07% pontosság).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"/>
          <p:cNvSpPr txBox="1">
            <a:spLocks noGrp="1"/>
          </p:cNvSpPr>
          <p:nvPr>
            <p:ph type="title"/>
          </p:nvPr>
        </p:nvSpPr>
        <p:spPr>
          <a:xfrm>
            <a:off x="669774" y="1143000"/>
            <a:ext cx="4823299" cy="5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hu-HU" sz="4000"/>
              <a:t>Köszönjük a figyelmet!</a:t>
            </a:r>
            <a:endParaRPr sz="4000"/>
          </a:p>
        </p:txBody>
      </p:sp>
      <p:sp>
        <p:nvSpPr>
          <p:cNvPr id="155" name="Google Shape;155;p10"/>
          <p:cNvSpPr txBox="1">
            <a:spLocks noGrp="1"/>
          </p:cNvSpPr>
          <p:nvPr>
            <p:ph type="subTitle" idx="1"/>
          </p:nvPr>
        </p:nvSpPr>
        <p:spPr>
          <a:xfrm>
            <a:off x="669775" y="1850750"/>
            <a:ext cx="3683400" cy="9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hu-HU"/>
              <a:t>Kérdések?</a:t>
            </a:r>
            <a:endParaRPr/>
          </a:p>
        </p:txBody>
      </p:sp>
      <p:sp>
        <p:nvSpPr>
          <p:cNvPr id="156" name="Google Shape;156;p10"/>
          <p:cNvSpPr txBox="1"/>
          <p:nvPr/>
        </p:nvSpPr>
        <p:spPr>
          <a:xfrm>
            <a:off x="341850" y="205291"/>
            <a:ext cx="6139632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6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Bakos Rózsa Ajándék, Kálmán Előd Arto, Németh Bence Máté, Nyerges Bálint</a:t>
            </a:r>
            <a:endParaRPr sz="1600" b="0" i="0" u="none" strike="noStrike" cap="none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y Presentation Template">
  <a:themeElements>
    <a:clrScheme name="Simple Light">
      <a:dk1>
        <a:srgbClr val="191919"/>
      </a:dk1>
      <a:lt1>
        <a:srgbClr val="EFEFEF"/>
      </a:lt1>
      <a:dk2>
        <a:srgbClr val="707070"/>
      </a:dk2>
      <a:lt2>
        <a:srgbClr val="C1C1B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11</Slides>
  <Notes>11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My Presentation Template</vt:lpstr>
      <vt:lpstr>Arcdetektálás</vt:lpstr>
      <vt:lpstr>Projekt Célja</vt:lpstr>
      <vt:lpstr>Feladat és eszközök</vt:lpstr>
      <vt:lpstr>Megközelítés – Haar Cascade</vt:lpstr>
      <vt:lpstr>Megközelítés – DNN</vt:lpstr>
      <vt:lpstr>Megközelítés - YuNet</vt:lpstr>
      <vt:lpstr>Megközelítés – Saját megoldás</vt:lpstr>
      <vt:lpstr>GUI</vt:lpstr>
      <vt:lpstr>Algoritmusok összehasonlítása GUI</vt:lpstr>
      <vt:lpstr>Eredményeké és összehasonlítás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14</cp:revision>
  <dcterms:modified xsi:type="dcterms:W3CDTF">2025-11-30T14:45:04Z</dcterms:modified>
</cp:coreProperties>
</file>